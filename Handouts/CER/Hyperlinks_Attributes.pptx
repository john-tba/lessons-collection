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60" r:id="rId5"/>
  </p:sldMasterIdLst>
  <p:sldIdLst>
    <p:sldId id="256" r:id="rId6"/>
    <p:sldId id="258" r:id="rId7"/>
    <p:sldId id="277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4" r:id="rId17"/>
    <p:sldId id="268" r:id="rId18"/>
    <p:sldId id="275" r:id="rId19"/>
    <p:sldId id="276" r:id="rId20"/>
  </p:sldIdLst>
  <p:sldSz cx="18288000" cy="10287000"/>
  <p:notesSz cx="6858000" cy="9144000"/>
  <p:embeddedFontLst>
    <p:embeddedFont>
      <p:font typeface="Aileron" panose="020B0604020202020204" charset="0"/>
      <p:regular r:id="rId21"/>
    </p:embeddedFont>
    <p:embeddedFont>
      <p:font typeface="Aileron Bold" panose="020B0604020202020204" charset="0"/>
      <p:regular r:id="rId22"/>
    </p:embeddedFont>
    <p:embeddedFont>
      <p:font typeface="Aileron Italics" panose="020B0604020202020204" charset="0"/>
      <p:regular r:id="rId23"/>
    </p:embeddedFont>
    <p:embeddedFont>
      <p:font typeface="Rockwell" panose="020B0604020202020204" charset="0"/>
      <p:regular r:id="rId24"/>
      <p:bold r:id="rId25"/>
      <p:italic r:id="rId26"/>
      <p:boldItalic r:id="rId27"/>
    </p:embeddedFont>
    <p:embeddedFont>
      <p:font typeface="Rockwell Condensed" panose="020B0604020202020204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9B9BB8-036A-2B99-16B4-922DB9803B2D}" v="12" dt="2026-07-28T09:05:01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TE, MARISSA A." userId="S::m.rante@claretschool.edu.ph::504fef17-a5b1-4966-b520-3b21eb9ff08a" providerId="AD" clId="Web-{729B9BB8-036A-2B99-16B4-922DB9803B2D}"/>
    <pc:docChg chg="modSld">
      <pc:chgData name="RANTE, MARISSA A." userId="S::m.rante@claretschool.edu.ph::504fef17-a5b1-4966-b520-3b21eb9ff08a" providerId="AD" clId="Web-{729B9BB8-036A-2B99-16B4-922DB9803B2D}" dt="2026-07-28T09:05:01.872" v="6" actId="14100"/>
      <pc:docMkLst>
        <pc:docMk/>
      </pc:docMkLst>
      <pc:sldChg chg="modSp">
        <pc:chgData name="RANTE, MARISSA A." userId="S::m.rante@claretschool.edu.ph::504fef17-a5b1-4966-b520-3b21eb9ff08a" providerId="AD" clId="Web-{729B9BB8-036A-2B99-16B4-922DB9803B2D}" dt="2026-07-28T09:05:01.872" v="6" actId="14100"/>
        <pc:sldMkLst>
          <pc:docMk/>
          <pc:sldMk cId="62471444" sldId="274"/>
        </pc:sldMkLst>
        <pc:spChg chg="mod">
          <ac:chgData name="RANTE, MARISSA A." userId="S::m.rante@claretschool.edu.ph::504fef17-a5b1-4966-b520-3b21eb9ff08a" providerId="AD" clId="Web-{729B9BB8-036A-2B99-16B4-922DB9803B2D}" dt="2026-07-28T09:05:01.872" v="6" actId="14100"/>
          <ac:spMkLst>
            <pc:docMk/>
            <pc:sldMk cId="62471444" sldId="274"/>
            <ac:spMk id="3" creationId="{3EF191FB-3368-9B22-5C20-58703629BB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81251" y="2020420"/>
            <a:ext cx="15334488" cy="121025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81251" y="6449545"/>
            <a:ext cx="15334488" cy="121025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81251" y="2227169"/>
            <a:ext cx="15334488" cy="41148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14473823" y="6103385"/>
            <a:ext cx="1621356" cy="1621353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7340" y="2148335"/>
            <a:ext cx="14950440" cy="4553712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144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72" y="6583680"/>
            <a:ext cx="11836908" cy="1604772"/>
          </a:xfrm>
        </p:spPr>
        <p:txBody>
          <a:bodyPr>
            <a:normAutofit/>
          </a:bodyPr>
          <a:lstStyle>
            <a:lvl1pPr marL="0" indent="0" algn="l">
              <a:buNone/>
              <a:defRPr sz="3300">
                <a:solidFill>
                  <a:schemeClr val="tx1"/>
                </a:solidFill>
              </a:defRPr>
            </a:lvl1pPr>
            <a:lvl2pPr marL="685800" indent="0" algn="ctr">
              <a:buNone/>
              <a:defRPr sz="3300"/>
            </a:lvl2pPr>
            <a:lvl3pPr marL="1371600" indent="0" algn="ctr">
              <a:buNone/>
              <a:defRPr sz="33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89100" y="6434001"/>
            <a:ext cx="1790802" cy="960120"/>
          </a:xfrm>
        </p:spPr>
        <p:txBody>
          <a:bodyPr/>
          <a:lstStyle>
            <a:lvl1pPr>
              <a:defRPr sz="42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67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99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376984"/>
            <a:ext cx="18288000" cy="2910015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0692" y="1837944"/>
            <a:ext cx="13921740" cy="528066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1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8661" y="7530084"/>
            <a:ext cx="13578840" cy="1600200"/>
          </a:xfrm>
        </p:spPr>
        <p:txBody>
          <a:bodyPr anchor="t">
            <a:norm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890501" y="9409177"/>
            <a:ext cx="3966464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74062" y="9409177"/>
            <a:ext cx="9491472" cy="547688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346099" y="3488772"/>
            <a:ext cx="1621356" cy="1621353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65553" y="3759200"/>
            <a:ext cx="1782447" cy="1080498"/>
          </a:xfrm>
        </p:spPr>
        <p:txBody>
          <a:bodyPr/>
          <a:lstStyle>
            <a:lvl1pPr>
              <a:defRPr sz="42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3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4772" y="3291840"/>
            <a:ext cx="7132320" cy="5966460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46336" y="3291840"/>
            <a:ext cx="7132320" cy="5966460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3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3072384"/>
            <a:ext cx="7132320" cy="960120"/>
          </a:xfrm>
        </p:spPr>
        <p:txBody>
          <a:bodyPr anchor="ctr">
            <a:normAutofit/>
          </a:bodyPr>
          <a:lstStyle>
            <a:lvl1pPr marL="0" indent="0">
              <a:buNone/>
              <a:defRPr sz="3000" b="1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04772" y="4114800"/>
            <a:ext cx="7132320" cy="4937760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546336" y="3072384"/>
            <a:ext cx="7132320" cy="960120"/>
          </a:xfrm>
        </p:spPr>
        <p:txBody>
          <a:bodyPr anchor="ctr">
            <a:normAutofit/>
          </a:bodyPr>
          <a:lstStyle>
            <a:lvl1pPr marL="0" indent="0">
              <a:buNone/>
              <a:defRPr sz="3000" b="1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546336" y="4114800"/>
            <a:ext cx="7132320" cy="4937760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40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086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455611" y="1"/>
            <a:ext cx="5832389" cy="10286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4460" y="1028700"/>
            <a:ext cx="4800600" cy="2606040"/>
          </a:xfrm>
        </p:spPr>
        <p:txBody>
          <a:bodyPr anchor="b">
            <a:normAutofit/>
          </a:bodyPr>
          <a:lstStyle>
            <a:lvl1pPr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1028700"/>
            <a:ext cx="10067544" cy="7530084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24460" y="3634740"/>
            <a:ext cx="4800600" cy="49377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500"/>
              </a:spcBef>
              <a:buNone/>
              <a:defRPr sz="210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7102588" y="9344522"/>
            <a:ext cx="685800" cy="6858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55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2455611" y="1"/>
            <a:ext cx="5832389" cy="10286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4460" y="1028700"/>
            <a:ext cx="4800600" cy="2606040"/>
          </a:xfrm>
        </p:spPr>
        <p:txBody>
          <a:bodyPr anchor="b">
            <a:normAutofit/>
          </a:bodyPr>
          <a:lstStyle>
            <a:lvl1pPr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455610" cy="10287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24460" y="3634740"/>
            <a:ext cx="4800600" cy="49377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500"/>
              </a:spcBef>
              <a:buNone/>
              <a:defRPr sz="210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7102588" y="9344522"/>
            <a:ext cx="685800" cy="6858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787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52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800100"/>
            <a:ext cx="3829050" cy="845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0200" y="800100"/>
            <a:ext cx="11258550" cy="845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66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4772" y="726948"/>
            <a:ext cx="15087600" cy="24140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4772" y="3182112"/>
            <a:ext cx="15087600" cy="6076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46636" y="9409177"/>
            <a:ext cx="491032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2204" y="9409177"/>
            <a:ext cx="9491472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7102588" y="9344522"/>
            <a:ext cx="685800" cy="6858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966692" y="9409177"/>
            <a:ext cx="96012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00" b="1">
                <a:solidFill>
                  <a:srgbClr val="FFFFFF"/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11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81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274320" indent="-274320" algn="l" defTabSz="13716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13716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274320" algn="l" defTabSz="13716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indent="-274320" algn="l" defTabSz="13716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indent="-274320" algn="l" defTabSz="13716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342900" algn="l" defTabSz="13716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850000" indent="-342900" algn="l" defTabSz="13716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300000" indent="-342900" algn="l" defTabSz="13716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750000" indent="-342900" algn="l" defTabSz="13716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53538"/>
            <a:ext cx="16230600" cy="0"/>
          </a:xfrm>
          <a:prstGeom prst="line">
            <a:avLst/>
          </a:prstGeom>
          <a:ln w="9525" cap="flat">
            <a:solidFill>
              <a:srgbClr val="122E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711841" y="1333500"/>
            <a:ext cx="16864318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Hyper Link Tag and Attribute</a:t>
            </a:r>
          </a:p>
        </p:txBody>
      </p:sp>
      <p:pic>
        <p:nvPicPr>
          <p:cNvPr id="1026" name="Picture 2" descr="What is a Hyperlink?">
            <a:extLst>
              <a:ext uri="{FF2B5EF4-FFF2-40B4-BE49-F238E27FC236}">
                <a16:creationId xmlns:a16="http://schemas.microsoft.com/office/drawing/2014/main" id="{31275BA5-B31D-2E4F-6E40-1C23B920B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687717"/>
            <a:ext cx="99060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0405D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27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85799" y="2522114"/>
            <a:ext cx="17210591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7200" spc="-192">
                <a:solidFill>
                  <a:srgbClr val="122E47"/>
                </a:solidFill>
                <a:latin typeface="Rockwell" panose="02060603020205020403" pitchFamily="18" charset="0"/>
                <a:ea typeface="Aileron"/>
                <a:cs typeface="Aileron"/>
                <a:sym typeface="Aileron"/>
              </a:rPr>
              <a:t>The </a:t>
            </a:r>
            <a:r>
              <a:rPr lang="en-US" sz="7200" b="1" spc="-192">
                <a:solidFill>
                  <a:srgbClr val="122E47"/>
                </a:solidFill>
                <a:latin typeface="Rockwell" panose="02060603020205020403" pitchFamily="18" charset="0"/>
                <a:ea typeface="Aileron"/>
                <a:cs typeface="Aileron"/>
                <a:sym typeface="Aileron"/>
              </a:rPr>
              <a:t>&lt;a&gt;</a:t>
            </a:r>
            <a:r>
              <a:rPr lang="en-US" sz="7200" spc="-192">
                <a:solidFill>
                  <a:srgbClr val="122E47"/>
                </a:solidFill>
                <a:latin typeface="Rockwell" panose="02060603020205020403" pitchFamily="18" charset="0"/>
                <a:ea typeface="Aileron"/>
                <a:cs typeface="Aileron"/>
                <a:sym typeface="Aileron"/>
              </a:rPr>
              <a:t> tag is used to create hyperlinks.</a:t>
            </a:r>
          </a:p>
          <a:p>
            <a:pPr algn="l"/>
            <a:r>
              <a:rPr lang="en-US" sz="7200" spc="-192">
                <a:solidFill>
                  <a:srgbClr val="122E47"/>
                </a:solidFill>
                <a:latin typeface="Rockwell" panose="02060603020205020403" pitchFamily="18" charset="0"/>
                <a:ea typeface="Aileron"/>
                <a:cs typeface="Aileron"/>
                <a:sym typeface="Aileron"/>
              </a:rPr>
              <a:t>A hyperlink allows users to:</a:t>
            </a:r>
          </a:p>
          <a:p>
            <a:pPr marL="1550256" lvl="1" indent="-857250" algn="l">
              <a:buSzPct val="80000"/>
              <a:buFont typeface="Wingdings" panose="05000000000000000000" pitchFamily="2" charset="2"/>
              <a:buChar char="Ø"/>
            </a:pPr>
            <a:r>
              <a:rPr lang="en-US" sz="7200" spc="-192">
                <a:solidFill>
                  <a:srgbClr val="122E47"/>
                </a:solidFill>
                <a:latin typeface="Rockwell" panose="02060603020205020403" pitchFamily="18" charset="0"/>
                <a:ea typeface="Aileron"/>
                <a:cs typeface="Aileron"/>
                <a:sym typeface="Aileron"/>
              </a:rPr>
              <a:t>navigate to another webpage</a:t>
            </a:r>
          </a:p>
          <a:p>
            <a:pPr marL="1550256" lvl="1" indent="-857250" algn="l">
              <a:buSzPct val="80000"/>
              <a:buFont typeface="Wingdings" panose="05000000000000000000" pitchFamily="2" charset="2"/>
              <a:buChar char="Ø"/>
            </a:pPr>
            <a:r>
              <a:rPr lang="en-US" sz="7200" spc="-192">
                <a:solidFill>
                  <a:srgbClr val="122E47"/>
                </a:solidFill>
                <a:latin typeface="Rockwell" panose="02060603020205020403" pitchFamily="18" charset="0"/>
                <a:ea typeface="Aileron"/>
                <a:cs typeface="Aileron"/>
                <a:sym typeface="Aileron"/>
              </a:rPr>
              <a:t>open a document</a:t>
            </a:r>
          </a:p>
          <a:p>
            <a:pPr marL="1550256" lvl="1" indent="-857250" algn="l">
              <a:buSzPct val="80000"/>
              <a:buFont typeface="Wingdings" panose="05000000000000000000" pitchFamily="2" charset="2"/>
              <a:buChar char="Ø"/>
            </a:pPr>
            <a:r>
              <a:rPr lang="en-US" sz="7200" spc="-192">
                <a:solidFill>
                  <a:srgbClr val="122E47"/>
                </a:solidFill>
                <a:latin typeface="Rockwell" panose="02060603020205020403" pitchFamily="18" charset="0"/>
                <a:ea typeface="Aileron"/>
                <a:cs typeface="Aileron"/>
                <a:sym typeface="Aileron"/>
              </a:rPr>
              <a:t>jump to a section within the same page</a:t>
            </a:r>
          </a:p>
          <a:p>
            <a:pPr marL="1550256" lvl="1" indent="-857250" algn="l">
              <a:buSzPct val="80000"/>
              <a:buFont typeface="Wingdings" panose="05000000000000000000" pitchFamily="2" charset="2"/>
              <a:buChar char="Ø"/>
            </a:pPr>
            <a:r>
              <a:rPr lang="en-US" sz="7200" spc="-192">
                <a:solidFill>
                  <a:srgbClr val="122E47"/>
                </a:solidFill>
                <a:latin typeface="Rockwell" panose="02060603020205020403" pitchFamily="18" charset="0"/>
                <a:ea typeface="Aileron"/>
                <a:cs typeface="Aileron"/>
                <a:sym typeface="Aileron"/>
              </a:rPr>
              <a:t>sends email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57867" y="266700"/>
            <a:ext cx="6408346" cy="1005114"/>
            <a:chOff x="0" y="0"/>
            <a:chExt cx="4868230" cy="7635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68230" cy="763555"/>
            </a:xfrm>
            <a:custGeom>
              <a:avLst/>
              <a:gdLst/>
              <a:ahLst/>
              <a:cxnLst/>
              <a:rect l="l" t="t" r="r" b="b"/>
              <a:pathLst>
                <a:path w="4868230" h="763555">
                  <a:moveTo>
                    <a:pt x="203200" y="0"/>
                  </a:moveTo>
                  <a:lnTo>
                    <a:pt x="4868230" y="0"/>
                  </a:lnTo>
                  <a:lnTo>
                    <a:pt x="4665030" y="763555"/>
                  </a:lnTo>
                  <a:lnTo>
                    <a:pt x="0" y="7635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49F14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0"/>
              <a:ext cx="4665030" cy="7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5800" y="1340210"/>
            <a:ext cx="9724333" cy="1332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66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The </a:t>
            </a:r>
            <a:r>
              <a:rPr lang="en-US" sz="8660" b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anchor</a:t>
            </a:r>
            <a:r>
              <a:rPr lang="en-US" sz="866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 tag</a:t>
            </a:r>
          </a:p>
        </p:txBody>
      </p:sp>
      <p:pic>
        <p:nvPicPr>
          <p:cNvPr id="2050" name="Picture 2" descr="The HTML &lt;a&gt; Tag – Anchor Tag Example Code">
            <a:extLst>
              <a:ext uri="{FF2B5EF4-FFF2-40B4-BE49-F238E27FC236}">
                <a16:creationId xmlns:a16="http://schemas.microsoft.com/office/drawing/2014/main" id="{EC0277A6-840B-F9C1-089E-BCCCED430C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9" t="27600" r="1111" b="30800"/>
          <a:stretch>
            <a:fillRect/>
          </a:stretch>
        </p:blipFill>
        <p:spPr bwMode="auto">
          <a:xfrm>
            <a:off x="11102872" y="454075"/>
            <a:ext cx="6793519" cy="163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BEDEB-5AED-1317-9AA8-7CB32DD23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8D6F272-A802-3AFA-B45D-834A68DFF852}"/>
              </a:ext>
            </a:extLst>
          </p:cNvPr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E624879-2020-04C1-4704-807FB35235CE}"/>
                </a:ext>
              </a:extLst>
            </p:cNvPr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0405D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5FC8258-FFCF-9A57-C6EC-748810985EB4}"/>
                </a:ext>
              </a:extLst>
            </p:cNvPr>
            <p:cNvSpPr txBox="1"/>
            <p:nvPr/>
          </p:nvSpPr>
          <p:spPr>
            <a:xfrm>
              <a:off x="0" y="0"/>
              <a:ext cx="4816593" cy="27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D7867F2-661A-EA04-B16D-02826433DFAB}"/>
              </a:ext>
            </a:extLst>
          </p:cNvPr>
          <p:cNvSpPr txBox="1"/>
          <p:nvPr/>
        </p:nvSpPr>
        <p:spPr>
          <a:xfrm>
            <a:off x="667142" y="2996704"/>
            <a:ext cx="16858858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8000">
                <a:latin typeface="Rockwell" panose="02060603020205020403" pitchFamily="18" charset="0"/>
              </a:rPr>
              <a:t>The </a:t>
            </a:r>
            <a:r>
              <a:rPr lang="en-US" sz="8000" b="1" i="1">
                <a:latin typeface="Rockwell" panose="02060603020205020403" pitchFamily="18" charset="0"/>
              </a:rPr>
              <a:t>link text</a:t>
            </a:r>
            <a:r>
              <a:rPr lang="en-US" sz="8000" b="1">
                <a:latin typeface="Rockwell" panose="02060603020205020403" pitchFamily="18" charset="0"/>
              </a:rPr>
              <a:t> </a:t>
            </a:r>
            <a:r>
              <a:rPr lang="en-US" sz="8000">
                <a:latin typeface="Rockwell" panose="02060603020205020403" pitchFamily="18" charset="0"/>
              </a:rPr>
              <a:t>is the part that will be visible to the reader.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8000">
                <a:latin typeface="Rockwell" panose="02060603020205020403" pitchFamily="18" charset="0"/>
              </a:rPr>
              <a:t>Clicking on the link text, will send the reader to the specified URL address.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C74515C7-C47A-F851-F53E-BFAC4467E85E}"/>
              </a:ext>
            </a:extLst>
          </p:cNvPr>
          <p:cNvGrpSpPr/>
          <p:nvPr/>
        </p:nvGrpSpPr>
        <p:grpSpPr>
          <a:xfrm>
            <a:off x="533400" y="494349"/>
            <a:ext cx="6408346" cy="1005114"/>
            <a:chOff x="0" y="0"/>
            <a:chExt cx="4868230" cy="76355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43C8B3B-202A-3FEF-E743-DAAE14B87413}"/>
                </a:ext>
              </a:extLst>
            </p:cNvPr>
            <p:cNvSpPr/>
            <p:nvPr/>
          </p:nvSpPr>
          <p:spPr>
            <a:xfrm>
              <a:off x="0" y="0"/>
              <a:ext cx="4868230" cy="763555"/>
            </a:xfrm>
            <a:custGeom>
              <a:avLst/>
              <a:gdLst/>
              <a:ahLst/>
              <a:cxnLst/>
              <a:rect l="l" t="t" r="r" b="b"/>
              <a:pathLst>
                <a:path w="4868230" h="763555">
                  <a:moveTo>
                    <a:pt x="203200" y="0"/>
                  </a:moveTo>
                  <a:lnTo>
                    <a:pt x="4868230" y="0"/>
                  </a:lnTo>
                  <a:lnTo>
                    <a:pt x="4665030" y="763555"/>
                  </a:lnTo>
                  <a:lnTo>
                    <a:pt x="0" y="7635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49F14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FB6347A-AEF1-8E66-9695-DCE0BE6C432E}"/>
                </a:ext>
              </a:extLst>
            </p:cNvPr>
            <p:cNvSpPr txBox="1"/>
            <p:nvPr/>
          </p:nvSpPr>
          <p:spPr>
            <a:xfrm>
              <a:off x="101600" y="0"/>
              <a:ext cx="4665030" cy="7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3" name="TextBox 9">
            <a:extLst>
              <a:ext uri="{FF2B5EF4-FFF2-40B4-BE49-F238E27FC236}">
                <a16:creationId xmlns:a16="http://schemas.microsoft.com/office/drawing/2014/main" id="{1AB5A4B1-05A0-DA0A-A25C-242624D905B0}"/>
              </a:ext>
            </a:extLst>
          </p:cNvPr>
          <p:cNvSpPr txBox="1"/>
          <p:nvPr/>
        </p:nvSpPr>
        <p:spPr>
          <a:xfrm>
            <a:off x="1219200" y="1392796"/>
            <a:ext cx="76962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The </a:t>
            </a:r>
            <a:r>
              <a:rPr lang="en-US" sz="9600" b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link text</a:t>
            </a:r>
            <a:endParaRPr lang="en-US" sz="8800">
              <a:solidFill>
                <a:srgbClr val="20405D"/>
              </a:solidFill>
              <a:latin typeface="Rockwell" panose="02060603020205020403" pitchFamily="18" charset="0"/>
              <a:ea typeface="Impact"/>
              <a:cs typeface="Impact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9693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40284" y="238541"/>
            <a:ext cx="6408346" cy="1005114"/>
            <a:chOff x="0" y="0"/>
            <a:chExt cx="4868230" cy="7635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68230" cy="763555"/>
            </a:xfrm>
            <a:custGeom>
              <a:avLst/>
              <a:gdLst/>
              <a:ahLst/>
              <a:cxnLst/>
              <a:rect l="l" t="t" r="r" b="b"/>
              <a:pathLst>
                <a:path w="4868230" h="763555">
                  <a:moveTo>
                    <a:pt x="203200" y="0"/>
                  </a:moveTo>
                  <a:lnTo>
                    <a:pt x="4868230" y="0"/>
                  </a:lnTo>
                  <a:lnTo>
                    <a:pt x="4665030" y="763555"/>
                  </a:lnTo>
                  <a:lnTo>
                    <a:pt x="0" y="7635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49F14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0"/>
              <a:ext cx="4665030" cy="7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213373"/>
              </p:ext>
            </p:extLst>
          </p:nvPr>
        </p:nvGraphicFramePr>
        <p:xfrm>
          <a:off x="540284" y="2253578"/>
          <a:ext cx="17372864" cy="7461923"/>
        </p:xfrm>
        <a:graphic>
          <a:graphicData uri="http://schemas.openxmlformats.org/drawingml/2006/table">
            <a:tbl>
              <a:tblPr/>
              <a:tblGrid>
                <a:gridCol w="669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5989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4800" b="1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PART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4800" b="1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DESCRIPTION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989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5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&lt;a&gt;</a:t>
                      </a:r>
                      <a:endParaRPr lang="en-US" sz="20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48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opening anchor tag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989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5400" err="1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href</a:t>
                      </a:r>
                      <a:endParaRPr lang="en-US" sz="20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48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destination of the hyperlink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5989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5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target</a:t>
                      </a:r>
                      <a:endParaRPr lang="en-US" sz="20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48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specifies where the link opens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5989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5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title</a:t>
                      </a:r>
                      <a:endParaRPr lang="en-US" sz="20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48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displays a tooltip when hovered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5989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5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link text</a:t>
                      </a:r>
                      <a:endParaRPr lang="en-US" sz="20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48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clickable text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5989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5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&lt;/a&gt; </a:t>
                      </a:r>
                      <a:endParaRPr lang="en-US" sz="20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48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closing anchor tag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219200" y="952500"/>
            <a:ext cx="140208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72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Anatomy of an </a:t>
            </a:r>
            <a:r>
              <a:rPr lang="en-US" sz="7200" b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anchor</a:t>
            </a:r>
            <a:r>
              <a:rPr lang="en-US" sz="72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 tag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0405D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27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7142" y="3138613"/>
            <a:ext cx="17163658" cy="3308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67"/>
              </a:lnSpc>
            </a:pPr>
            <a:r>
              <a:rPr lang="en-US" sz="7200" b="1" spc="-214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&lt;a </a:t>
            </a:r>
            <a:r>
              <a:rPr lang="en-US" sz="7200" b="1" spc="-214" err="1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href</a:t>
            </a:r>
            <a:r>
              <a:rPr lang="en-US" sz="7200" spc="-214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="https://www.example.com" target="_blank" title="Visit Example"&gt; Visit Example </a:t>
            </a:r>
            <a:r>
              <a:rPr lang="en-US" sz="7200" b="1" spc="-214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&lt;/a&gt;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33400" y="321120"/>
            <a:ext cx="6408346" cy="1005114"/>
            <a:chOff x="0" y="0"/>
            <a:chExt cx="4868230" cy="7635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68230" cy="763555"/>
            </a:xfrm>
            <a:custGeom>
              <a:avLst/>
              <a:gdLst/>
              <a:ahLst/>
              <a:cxnLst/>
              <a:rect l="l" t="t" r="r" b="b"/>
              <a:pathLst>
                <a:path w="4868230" h="763555">
                  <a:moveTo>
                    <a:pt x="203200" y="0"/>
                  </a:moveTo>
                  <a:lnTo>
                    <a:pt x="4868230" y="0"/>
                  </a:lnTo>
                  <a:lnTo>
                    <a:pt x="4665030" y="763555"/>
                  </a:lnTo>
                  <a:lnTo>
                    <a:pt x="0" y="7635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49F14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0"/>
              <a:ext cx="4665030" cy="7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3" name="TextBox 9">
            <a:extLst>
              <a:ext uri="{FF2B5EF4-FFF2-40B4-BE49-F238E27FC236}">
                <a16:creationId xmlns:a16="http://schemas.microsoft.com/office/drawing/2014/main" id="{74E37C7B-9498-0CA9-E6F1-0DD30D24AC8C}"/>
              </a:ext>
            </a:extLst>
          </p:cNvPr>
          <p:cNvSpPr txBox="1"/>
          <p:nvPr/>
        </p:nvSpPr>
        <p:spPr>
          <a:xfrm>
            <a:off x="1219200" y="952500"/>
            <a:ext cx="140208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72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Anatomy of an </a:t>
            </a:r>
            <a:r>
              <a:rPr lang="en-US" sz="7200" b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anchor</a:t>
            </a:r>
            <a:r>
              <a:rPr lang="en-US" sz="72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 tag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0405D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27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3446" y="4119431"/>
            <a:ext cx="17764040" cy="3540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55667" lvl="1" indent="-827833" algn="l">
              <a:buFont typeface="Arial"/>
              <a:buChar char="•"/>
            </a:pPr>
            <a:r>
              <a:rPr lang="en-US" sz="7668" b="1" spc="-230" err="1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href</a:t>
            </a:r>
            <a:r>
              <a:rPr lang="en-US" sz="7668" spc="-230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 stands for </a:t>
            </a:r>
            <a:r>
              <a:rPr lang="en-US" sz="7668" i="1" spc="-230">
                <a:solidFill>
                  <a:srgbClr val="122E47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Hypertext Reference</a:t>
            </a:r>
          </a:p>
          <a:p>
            <a:pPr marL="1655667" lvl="1" indent="-827833" algn="l">
              <a:buFont typeface="Arial"/>
              <a:buChar char="•"/>
            </a:pPr>
            <a:r>
              <a:rPr lang="en-US" sz="7668" spc="-230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It specifies the destination of the hyperlink.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85800" y="480238"/>
            <a:ext cx="6408346" cy="1005114"/>
            <a:chOff x="0" y="0"/>
            <a:chExt cx="4868230" cy="7635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68230" cy="763555"/>
            </a:xfrm>
            <a:custGeom>
              <a:avLst/>
              <a:gdLst/>
              <a:ahLst/>
              <a:cxnLst/>
              <a:rect l="l" t="t" r="r" b="b"/>
              <a:pathLst>
                <a:path w="4868230" h="763555">
                  <a:moveTo>
                    <a:pt x="203200" y="0"/>
                  </a:moveTo>
                  <a:lnTo>
                    <a:pt x="4868230" y="0"/>
                  </a:lnTo>
                  <a:lnTo>
                    <a:pt x="4665030" y="763555"/>
                  </a:lnTo>
                  <a:lnTo>
                    <a:pt x="0" y="7635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49F14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0"/>
              <a:ext cx="4665030" cy="7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3" name="TextBox 9">
            <a:extLst>
              <a:ext uri="{FF2B5EF4-FFF2-40B4-BE49-F238E27FC236}">
                <a16:creationId xmlns:a16="http://schemas.microsoft.com/office/drawing/2014/main" id="{C831B517-19EB-BE43-6A86-0147C8246B56}"/>
              </a:ext>
            </a:extLst>
          </p:cNvPr>
          <p:cNvSpPr txBox="1"/>
          <p:nvPr/>
        </p:nvSpPr>
        <p:spPr>
          <a:xfrm>
            <a:off x="1219200" y="1289464"/>
            <a:ext cx="14020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The </a:t>
            </a:r>
            <a:r>
              <a:rPr lang="en-US" sz="9600" b="1" err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href</a:t>
            </a:r>
            <a:r>
              <a:rPr lang="en-US" sz="9600" b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 </a:t>
            </a:r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attribute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0405D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27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54952" y="4974570"/>
            <a:ext cx="16392440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02"/>
              </a:lnSpc>
            </a:pPr>
            <a:r>
              <a:rPr lang="en-US" sz="7668" spc="-230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&lt;a </a:t>
            </a:r>
            <a:r>
              <a:rPr lang="en-US" sz="7668" spc="-230" err="1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href</a:t>
            </a:r>
            <a:r>
              <a:rPr lang="en-US" sz="7668" spc="-230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="https://www.youtube.com"&gt; Visit YouTube &lt;/a&gt;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62000" y="416967"/>
            <a:ext cx="6408346" cy="1005114"/>
            <a:chOff x="0" y="0"/>
            <a:chExt cx="4868230" cy="7635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68230" cy="763555"/>
            </a:xfrm>
            <a:custGeom>
              <a:avLst/>
              <a:gdLst/>
              <a:ahLst/>
              <a:cxnLst/>
              <a:rect l="l" t="t" r="r" b="b"/>
              <a:pathLst>
                <a:path w="4868230" h="763555">
                  <a:moveTo>
                    <a:pt x="203200" y="0"/>
                  </a:moveTo>
                  <a:lnTo>
                    <a:pt x="4868230" y="0"/>
                  </a:lnTo>
                  <a:lnTo>
                    <a:pt x="4665030" y="763555"/>
                  </a:lnTo>
                  <a:lnTo>
                    <a:pt x="0" y="7635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49F14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0"/>
              <a:ext cx="4665030" cy="7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49090" y="3209624"/>
            <a:ext cx="15210733" cy="1332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66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Example 1: External Website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5DAB4A44-CC13-D875-6C36-033EB985C473}"/>
              </a:ext>
            </a:extLst>
          </p:cNvPr>
          <p:cNvSpPr txBox="1"/>
          <p:nvPr/>
        </p:nvSpPr>
        <p:spPr>
          <a:xfrm>
            <a:off x="1219200" y="1289464"/>
            <a:ext cx="14020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The </a:t>
            </a:r>
            <a:r>
              <a:rPr lang="en-US" sz="9600" b="1" err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href</a:t>
            </a:r>
            <a:r>
              <a:rPr lang="en-US" sz="9600" b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 </a:t>
            </a:r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attribute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0405D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27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94652" y="5600454"/>
            <a:ext cx="17033192" cy="133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43"/>
              </a:lnSpc>
            </a:pPr>
            <a:r>
              <a:rPr lang="en-US" sz="8786" spc="-263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&lt;a </a:t>
            </a:r>
            <a:r>
              <a:rPr lang="en-US" sz="8786" spc="-263" err="1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href</a:t>
            </a:r>
            <a:r>
              <a:rPr lang="en-US" sz="8786" spc="-263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="about.html"&gt; About Us &lt;/a&gt;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4652" y="463528"/>
            <a:ext cx="6408346" cy="1005114"/>
            <a:chOff x="0" y="0"/>
            <a:chExt cx="4868230" cy="7635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68230" cy="763555"/>
            </a:xfrm>
            <a:custGeom>
              <a:avLst/>
              <a:gdLst/>
              <a:ahLst/>
              <a:cxnLst/>
              <a:rect l="l" t="t" r="r" b="b"/>
              <a:pathLst>
                <a:path w="4868230" h="763555">
                  <a:moveTo>
                    <a:pt x="203200" y="0"/>
                  </a:moveTo>
                  <a:lnTo>
                    <a:pt x="4868230" y="0"/>
                  </a:lnTo>
                  <a:lnTo>
                    <a:pt x="4665030" y="763555"/>
                  </a:lnTo>
                  <a:lnTo>
                    <a:pt x="0" y="7635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49F14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0"/>
              <a:ext cx="4665030" cy="7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38200" y="3616244"/>
            <a:ext cx="14844116" cy="1332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866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Example 2: Local HTML File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922137E4-899A-73BB-B9D4-D240C292E97C}"/>
              </a:ext>
            </a:extLst>
          </p:cNvPr>
          <p:cNvSpPr txBox="1"/>
          <p:nvPr/>
        </p:nvSpPr>
        <p:spPr>
          <a:xfrm>
            <a:off x="1219200" y="1289464"/>
            <a:ext cx="14020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The </a:t>
            </a:r>
            <a:r>
              <a:rPr lang="en-US" sz="9600" b="1" err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href</a:t>
            </a:r>
            <a:r>
              <a:rPr lang="en-US" sz="9600" b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 </a:t>
            </a:r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attribute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0405D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27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0277" y="4874871"/>
            <a:ext cx="16240040" cy="284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44"/>
              </a:lnSpc>
            </a:pPr>
            <a:r>
              <a:rPr lang="en-US" sz="9370" spc="-281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&lt;a </a:t>
            </a:r>
            <a:r>
              <a:rPr lang="en-US" sz="9370" spc="-281" err="1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href</a:t>
            </a:r>
            <a:r>
              <a:rPr lang="en-US" sz="9370" spc="-281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="lesson.pdf"&gt; Download Notes &lt;/a&gt;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57867" y="294228"/>
            <a:ext cx="6408346" cy="1005114"/>
            <a:chOff x="0" y="0"/>
            <a:chExt cx="4868230" cy="7635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68230" cy="763555"/>
            </a:xfrm>
            <a:custGeom>
              <a:avLst/>
              <a:gdLst/>
              <a:ahLst/>
              <a:cxnLst/>
              <a:rect l="l" t="t" r="r" b="b"/>
              <a:pathLst>
                <a:path w="4868230" h="763555">
                  <a:moveTo>
                    <a:pt x="203200" y="0"/>
                  </a:moveTo>
                  <a:lnTo>
                    <a:pt x="4868230" y="0"/>
                  </a:lnTo>
                  <a:lnTo>
                    <a:pt x="4665030" y="763555"/>
                  </a:lnTo>
                  <a:lnTo>
                    <a:pt x="0" y="7635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49F14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0"/>
              <a:ext cx="4665030" cy="7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90600" y="3346209"/>
            <a:ext cx="11221908" cy="1332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66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Example 3: PDF File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EEBCBD38-E98C-CDB9-0C04-78BAB1AD6329}"/>
              </a:ext>
            </a:extLst>
          </p:cNvPr>
          <p:cNvSpPr txBox="1"/>
          <p:nvPr/>
        </p:nvSpPr>
        <p:spPr>
          <a:xfrm>
            <a:off x="1219200" y="1289464"/>
            <a:ext cx="14020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The </a:t>
            </a:r>
            <a:r>
              <a:rPr lang="en-US" sz="9600" b="1" err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href</a:t>
            </a:r>
            <a:r>
              <a:rPr lang="en-US" sz="9600" b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 </a:t>
            </a:r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attribute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0405D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27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09600" y="4840154"/>
            <a:ext cx="17520019" cy="2026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05"/>
              </a:lnSpc>
            </a:pPr>
            <a:r>
              <a:rPr lang="en-US" sz="6588" spc="-197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&lt;a </a:t>
            </a:r>
            <a:r>
              <a:rPr lang="en-US" sz="6588" spc="-197" err="1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href</a:t>
            </a:r>
            <a:r>
              <a:rPr lang="en-US" sz="6588" spc="-197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="mailto:teacher@email.com"&gt; Email the Teacher &lt;/a&gt;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09600" y="304457"/>
            <a:ext cx="6408346" cy="1005114"/>
            <a:chOff x="0" y="0"/>
            <a:chExt cx="4868230" cy="7635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68230" cy="763555"/>
            </a:xfrm>
            <a:custGeom>
              <a:avLst/>
              <a:gdLst/>
              <a:ahLst/>
              <a:cxnLst/>
              <a:rect l="l" t="t" r="r" b="b"/>
              <a:pathLst>
                <a:path w="4868230" h="763555">
                  <a:moveTo>
                    <a:pt x="203200" y="0"/>
                  </a:moveTo>
                  <a:lnTo>
                    <a:pt x="4868230" y="0"/>
                  </a:lnTo>
                  <a:lnTo>
                    <a:pt x="4665030" y="763555"/>
                  </a:lnTo>
                  <a:lnTo>
                    <a:pt x="0" y="7635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49F14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0"/>
              <a:ext cx="4665030" cy="7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05869" y="8035495"/>
            <a:ext cx="17982131" cy="1022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40864" lvl="1" indent="-720432" algn="l">
              <a:lnSpc>
                <a:spcPts val="8008"/>
              </a:lnSpc>
              <a:buFont typeface="Arial"/>
              <a:buChar char="•"/>
            </a:pPr>
            <a:r>
              <a:rPr lang="en-US" sz="6673" i="1" spc="-200">
                <a:solidFill>
                  <a:srgbClr val="122E47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Opens the default email application.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3342" y="3124498"/>
            <a:ext cx="14844116" cy="1332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866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Example 4: Email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3D15C157-B03F-5351-9527-72560FAB1FD5}"/>
              </a:ext>
            </a:extLst>
          </p:cNvPr>
          <p:cNvSpPr txBox="1"/>
          <p:nvPr/>
        </p:nvSpPr>
        <p:spPr>
          <a:xfrm>
            <a:off x="1219200" y="1289464"/>
            <a:ext cx="14020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The </a:t>
            </a:r>
            <a:r>
              <a:rPr lang="en-US" sz="9600" b="1" err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href</a:t>
            </a:r>
            <a:r>
              <a:rPr lang="en-US" sz="9600" b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 </a:t>
            </a:r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attribute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0405D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27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46232" y="3695700"/>
            <a:ext cx="17595531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4696" lvl="1" indent="-857250" algn="l">
              <a:buFont typeface="Wingdings" panose="05000000000000000000" pitchFamily="2" charset="2"/>
              <a:buChar char="Ø"/>
            </a:pPr>
            <a:r>
              <a:rPr lang="en-US" sz="7200" spc="-207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It provides extra information about the hyperlink.</a:t>
            </a:r>
          </a:p>
          <a:p>
            <a:pPr marL="1604696" lvl="1" indent="-857250" algn="l">
              <a:buFont typeface="Wingdings" panose="05000000000000000000" pitchFamily="2" charset="2"/>
              <a:buChar char="Ø"/>
            </a:pPr>
            <a:r>
              <a:rPr lang="en-US" sz="7200" spc="-207">
                <a:solidFill>
                  <a:srgbClr val="122E47"/>
                </a:solidFill>
                <a:latin typeface="Aileron"/>
                <a:ea typeface="Aileron"/>
                <a:cs typeface="Aileron"/>
                <a:sym typeface="Aileron"/>
              </a:rPr>
              <a:t>When users hover the mouse over the link, a tooltip appears.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33400" y="494349"/>
            <a:ext cx="6408346" cy="1005114"/>
            <a:chOff x="0" y="0"/>
            <a:chExt cx="4868230" cy="7635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68230" cy="763555"/>
            </a:xfrm>
            <a:custGeom>
              <a:avLst/>
              <a:gdLst/>
              <a:ahLst/>
              <a:cxnLst/>
              <a:rect l="l" t="t" r="r" b="b"/>
              <a:pathLst>
                <a:path w="4868230" h="763555">
                  <a:moveTo>
                    <a:pt x="203200" y="0"/>
                  </a:moveTo>
                  <a:lnTo>
                    <a:pt x="4868230" y="0"/>
                  </a:lnTo>
                  <a:lnTo>
                    <a:pt x="4665030" y="763555"/>
                  </a:lnTo>
                  <a:lnTo>
                    <a:pt x="0" y="7635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49F14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0"/>
              <a:ext cx="4665030" cy="763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3" name="TextBox 9">
            <a:extLst>
              <a:ext uri="{FF2B5EF4-FFF2-40B4-BE49-F238E27FC236}">
                <a16:creationId xmlns:a16="http://schemas.microsoft.com/office/drawing/2014/main" id="{E3FF3977-5893-474E-1CE7-94C1F9B4180F}"/>
              </a:ext>
            </a:extLst>
          </p:cNvPr>
          <p:cNvSpPr txBox="1"/>
          <p:nvPr/>
        </p:nvSpPr>
        <p:spPr>
          <a:xfrm>
            <a:off x="1143000" y="1413311"/>
            <a:ext cx="14020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The </a:t>
            </a:r>
            <a:r>
              <a:rPr lang="en-US" sz="9600" b="1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title </a:t>
            </a:r>
            <a:r>
              <a:rPr lang="en-US" sz="8800">
                <a:solidFill>
                  <a:srgbClr val="20405D"/>
                </a:solidFill>
                <a:latin typeface="Rockwell" panose="02060603020205020403" pitchFamily="18" charset="0"/>
                <a:ea typeface="Impact"/>
                <a:cs typeface="Impact"/>
                <a:sym typeface="Impact"/>
              </a:rPr>
              <a:t>attribute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FD5CD-04F3-5E9E-2491-12B9F1072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961A493-6C23-1CB5-D82C-87DCAA4C3A16}"/>
              </a:ext>
            </a:extLst>
          </p:cNvPr>
          <p:cNvSpPr/>
          <p:nvPr/>
        </p:nvSpPr>
        <p:spPr>
          <a:xfrm>
            <a:off x="1028700" y="9253538"/>
            <a:ext cx="16230600" cy="0"/>
          </a:xfrm>
          <a:prstGeom prst="line">
            <a:avLst/>
          </a:prstGeom>
          <a:ln w="9525" cap="flat">
            <a:solidFill>
              <a:srgbClr val="122E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EF191FB-3368-9B22-5C20-58703629BB0F}"/>
              </a:ext>
            </a:extLst>
          </p:cNvPr>
          <p:cNvSpPr txBox="1"/>
          <p:nvPr/>
        </p:nvSpPr>
        <p:spPr>
          <a:xfrm>
            <a:off x="711841" y="664129"/>
            <a:ext cx="17375946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8800"/>
              <a:t>Hyperlink texts of different colors</a:t>
            </a:r>
          </a:p>
        </p:txBody>
      </p:sp>
      <p:pic>
        <p:nvPicPr>
          <p:cNvPr id="1026" name="Picture 2" descr="What is a Hyperlink?">
            <a:extLst>
              <a:ext uri="{FF2B5EF4-FFF2-40B4-BE49-F238E27FC236}">
                <a16:creationId xmlns:a16="http://schemas.microsoft.com/office/drawing/2014/main" id="{72155402-8DEF-AD3F-07FF-4E9516D5D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687717"/>
            <a:ext cx="99060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71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3400" y="122413"/>
            <a:ext cx="13473156" cy="1641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729"/>
              </a:lnSpc>
            </a:pPr>
            <a:r>
              <a:rPr lang="en-PH" sz="8800">
                <a:latin typeface="Rockwell" panose="02060603020205020403" pitchFamily="18" charset="0"/>
              </a:rPr>
              <a:t>Different colors of links</a:t>
            </a:r>
            <a:endParaRPr lang="en-US" sz="8800">
              <a:solidFill>
                <a:srgbClr val="20405D"/>
              </a:solidFill>
              <a:latin typeface="Rockwell" panose="02060603020205020403" pitchFamily="18" charset="0"/>
              <a:ea typeface="Impact"/>
              <a:cs typeface="Impact"/>
              <a:sym typeface="Impac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33400" y="1957404"/>
            <a:ext cx="1729740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43000" indent="-1143000">
              <a:buFont typeface="Wingdings" panose="05000000000000000000" pitchFamily="2" charset="2"/>
              <a:buChar char="Ø"/>
            </a:pPr>
            <a:r>
              <a:rPr lang="en-US" sz="8000">
                <a:latin typeface="Rockwell" panose="02060603020205020403" pitchFamily="18" charset="0"/>
              </a:rPr>
              <a:t>An unvisited link is underlined and </a:t>
            </a:r>
            <a:r>
              <a:rPr lang="en-US" sz="8000">
                <a:solidFill>
                  <a:srgbClr val="0070C0"/>
                </a:solidFill>
                <a:latin typeface="Rockwell" panose="02060603020205020403" pitchFamily="18" charset="0"/>
              </a:rPr>
              <a:t>blue</a:t>
            </a:r>
          </a:p>
          <a:p>
            <a:pPr marL="1143000" indent="-1143000">
              <a:buFont typeface="Wingdings" panose="05000000000000000000" pitchFamily="2" charset="2"/>
              <a:buChar char="Ø"/>
            </a:pPr>
            <a:r>
              <a:rPr lang="en-US" sz="8000">
                <a:latin typeface="Rockwell" panose="02060603020205020403" pitchFamily="18" charset="0"/>
              </a:rPr>
              <a:t>A visited link is underlined and </a:t>
            </a:r>
            <a:r>
              <a:rPr lang="en-US" sz="8000">
                <a:solidFill>
                  <a:srgbClr val="7030A0"/>
                </a:solidFill>
                <a:latin typeface="Rockwell" panose="02060603020205020403" pitchFamily="18" charset="0"/>
              </a:rPr>
              <a:t>purple</a:t>
            </a:r>
          </a:p>
          <a:p>
            <a:pPr marL="1143000" indent="-1143000">
              <a:buFont typeface="Wingdings" panose="05000000000000000000" pitchFamily="2" charset="2"/>
              <a:buChar char="Ø"/>
            </a:pPr>
            <a:r>
              <a:rPr lang="en-US" sz="8000">
                <a:latin typeface="Rockwell" panose="02060603020205020403" pitchFamily="18" charset="0"/>
              </a:rPr>
              <a:t>An active link is underlined and </a:t>
            </a:r>
            <a:r>
              <a:rPr lang="en-US" sz="8000">
                <a:solidFill>
                  <a:srgbClr val="FF0000"/>
                </a:solidFill>
                <a:latin typeface="Rockwell" panose="02060603020205020403" pitchFamily="18" charset="0"/>
              </a:rPr>
              <a:t>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17E80-2349-D8C2-6E94-2EF687AE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2FFF25F-4DA0-9619-A712-04ECAD98A2A8}"/>
              </a:ext>
            </a:extLst>
          </p:cNvPr>
          <p:cNvSpPr txBox="1"/>
          <p:nvPr/>
        </p:nvSpPr>
        <p:spPr>
          <a:xfrm>
            <a:off x="533400" y="122413"/>
            <a:ext cx="13473156" cy="1641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729"/>
              </a:lnSpc>
            </a:pPr>
            <a:r>
              <a:rPr lang="en-PH" sz="8800">
                <a:latin typeface="Rockwell" panose="02060603020205020403" pitchFamily="18" charset="0"/>
              </a:rPr>
              <a:t>Different colors of links</a:t>
            </a:r>
            <a:endParaRPr lang="en-US" sz="8800">
              <a:solidFill>
                <a:srgbClr val="20405D"/>
              </a:solidFill>
              <a:latin typeface="Rockwell" panose="02060603020205020403" pitchFamily="18" charset="0"/>
              <a:ea typeface="Impact"/>
              <a:cs typeface="Impact"/>
              <a:sym typeface="Impact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6A5C780-1A07-4B1B-AAE5-D287B6FB148F}"/>
              </a:ext>
            </a:extLst>
          </p:cNvPr>
          <p:cNvSpPr txBox="1"/>
          <p:nvPr/>
        </p:nvSpPr>
        <p:spPr>
          <a:xfrm>
            <a:off x="495300" y="1763503"/>
            <a:ext cx="17487900" cy="8125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6925" indent="-796925">
              <a:buFont typeface="Wingdings" panose="05000000000000000000" pitchFamily="2" charset="2"/>
              <a:buChar char="Ø"/>
            </a:pPr>
            <a:r>
              <a:rPr lang="en-US" sz="6600">
                <a:latin typeface="Rockwell" panose="02060603020205020403" pitchFamily="18" charset="0"/>
              </a:rPr>
              <a:t>An unvisited link will be </a:t>
            </a:r>
            <a:r>
              <a:rPr lang="en-US" sz="6600">
                <a:solidFill>
                  <a:srgbClr val="00B050"/>
                </a:solidFill>
                <a:latin typeface="Rockwell" panose="02060603020205020403" pitchFamily="18" charset="0"/>
              </a:rPr>
              <a:t>green</a:t>
            </a:r>
            <a:r>
              <a:rPr lang="en-US" sz="6600">
                <a:latin typeface="Rockwell" panose="02060603020205020403" pitchFamily="18" charset="0"/>
              </a:rPr>
              <a:t> with no underline</a:t>
            </a:r>
          </a:p>
          <a:p>
            <a:pPr marL="796925" indent="-796925">
              <a:buFont typeface="Wingdings" panose="05000000000000000000" pitchFamily="2" charset="2"/>
              <a:buChar char="Ø"/>
            </a:pPr>
            <a:r>
              <a:rPr lang="en-US" sz="6600">
                <a:latin typeface="Rockwell" panose="02060603020205020403" pitchFamily="18" charset="0"/>
              </a:rPr>
              <a:t>A visited link will be </a:t>
            </a:r>
            <a:r>
              <a:rPr lang="en-US" sz="6600">
                <a:solidFill>
                  <a:srgbClr val="FF3399"/>
                </a:solidFill>
                <a:latin typeface="Rockwell" panose="02060603020205020403" pitchFamily="18" charset="0"/>
              </a:rPr>
              <a:t>pink</a:t>
            </a:r>
            <a:r>
              <a:rPr lang="en-US" sz="6600">
                <a:latin typeface="Rockwell" panose="02060603020205020403" pitchFamily="18" charset="0"/>
              </a:rPr>
              <a:t> with no underline</a:t>
            </a:r>
          </a:p>
          <a:p>
            <a:pPr marL="796925" indent="-796925">
              <a:buFont typeface="Wingdings" panose="05000000000000000000" pitchFamily="2" charset="2"/>
              <a:buChar char="Ø"/>
            </a:pPr>
            <a:r>
              <a:rPr lang="en-US" sz="6600">
                <a:latin typeface="Rockwell" panose="02060603020205020403" pitchFamily="18" charset="0"/>
              </a:rPr>
              <a:t>An active link will be </a:t>
            </a:r>
            <a:r>
              <a:rPr lang="en-US" sz="6600">
                <a:highlight>
                  <a:srgbClr val="FFFF00"/>
                </a:highlight>
                <a:latin typeface="Rockwell" panose="02060603020205020403" pitchFamily="18" charset="0"/>
              </a:rPr>
              <a:t>yellow</a:t>
            </a:r>
            <a:r>
              <a:rPr lang="en-US" sz="6600">
                <a:latin typeface="Rockwell" panose="02060603020205020403" pitchFamily="18" charset="0"/>
              </a:rPr>
              <a:t> and underlined</a:t>
            </a:r>
          </a:p>
          <a:p>
            <a:pPr marL="796925" indent="-796925">
              <a:buFont typeface="Wingdings" panose="05000000000000000000" pitchFamily="2" charset="2"/>
              <a:buChar char="Ø"/>
            </a:pPr>
            <a:r>
              <a:rPr lang="en-US" sz="6600">
                <a:latin typeface="Rockwell" panose="02060603020205020403" pitchFamily="18" charset="0"/>
              </a:rPr>
              <a:t>When mousing over a link (</a:t>
            </a:r>
            <a:r>
              <a:rPr lang="en-US" sz="6600" err="1">
                <a:latin typeface="Rockwell" panose="02060603020205020403" pitchFamily="18" charset="0"/>
              </a:rPr>
              <a:t>a:hover</a:t>
            </a:r>
            <a:r>
              <a:rPr lang="en-US" sz="6600">
                <a:latin typeface="Rockwell" panose="02060603020205020403" pitchFamily="18" charset="0"/>
              </a:rPr>
              <a:t>) it will become </a:t>
            </a:r>
            <a:r>
              <a:rPr lang="en-US" sz="6600">
                <a:solidFill>
                  <a:srgbClr val="FF0000"/>
                </a:solidFill>
                <a:latin typeface="Rockwell" panose="02060603020205020403" pitchFamily="18" charset="0"/>
              </a:rPr>
              <a:t>red</a:t>
            </a:r>
            <a:r>
              <a:rPr lang="en-US" sz="6600">
                <a:latin typeface="Rockwell" panose="02060603020205020403" pitchFamily="18" charset="0"/>
              </a:rPr>
              <a:t> and underlined:</a:t>
            </a:r>
            <a:endParaRPr lang="en-US" sz="49600">
              <a:solidFill>
                <a:srgbClr val="FF0000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796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C3BF2-C522-6EC0-E7F7-F40142D3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BFCFEC2-5D6F-5EA3-4B7D-FBFC3FB29E0F}"/>
              </a:ext>
            </a:extLst>
          </p:cNvPr>
          <p:cNvSpPr txBox="1"/>
          <p:nvPr/>
        </p:nvSpPr>
        <p:spPr>
          <a:xfrm>
            <a:off x="533400" y="122413"/>
            <a:ext cx="13473156" cy="1641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729"/>
              </a:lnSpc>
            </a:pPr>
            <a:r>
              <a:rPr lang="en-PH" sz="8800">
                <a:latin typeface="Rockwell" panose="02060603020205020403" pitchFamily="18" charset="0"/>
              </a:rPr>
              <a:t>Link buttons</a:t>
            </a:r>
            <a:endParaRPr lang="en-US" sz="8800">
              <a:solidFill>
                <a:srgbClr val="20405D"/>
              </a:solidFill>
              <a:latin typeface="Rockwell" panose="02060603020205020403" pitchFamily="18" charset="0"/>
              <a:ea typeface="Impact"/>
              <a:cs typeface="Impact"/>
              <a:sym typeface="Impac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06B3D2-86A3-5ABF-0790-EE0D8F5C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75" t="46875" r="69912" b="41667"/>
          <a:stretch>
            <a:fillRect/>
          </a:stretch>
        </p:blipFill>
        <p:spPr>
          <a:xfrm>
            <a:off x="7620000" y="296653"/>
            <a:ext cx="5334001" cy="2933699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B4C7633F-F89F-0D58-0AFE-40817C0CD326}"/>
              </a:ext>
            </a:extLst>
          </p:cNvPr>
          <p:cNvSpPr txBox="1"/>
          <p:nvPr/>
        </p:nvSpPr>
        <p:spPr>
          <a:xfrm>
            <a:off x="914400" y="3026161"/>
            <a:ext cx="16459200" cy="1581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729"/>
              </a:lnSpc>
            </a:pPr>
            <a:r>
              <a:rPr lang="en-PH" sz="8800">
                <a:latin typeface="Rockwell" panose="02060603020205020403" pitchFamily="18" charset="0"/>
              </a:rPr>
              <a:t>Link that create bookmarks</a:t>
            </a:r>
            <a:endParaRPr lang="en-US" sz="8800">
              <a:solidFill>
                <a:srgbClr val="20405D"/>
              </a:solidFill>
              <a:latin typeface="Rockwell" panose="02060603020205020403" pitchFamily="18" charset="0"/>
              <a:ea typeface="Impact"/>
              <a:cs typeface="Impact"/>
              <a:sym typeface="Impac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88E0D-9B3D-97AB-3806-1211264BA112}"/>
              </a:ext>
            </a:extLst>
          </p:cNvPr>
          <p:cNvSpPr txBox="1"/>
          <p:nvPr/>
        </p:nvSpPr>
        <p:spPr>
          <a:xfrm>
            <a:off x="501161" y="4838700"/>
            <a:ext cx="17285677" cy="492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>
                <a:latin typeface="Rockwell" panose="02060603020205020403" pitchFamily="18" charset="0"/>
              </a:rPr>
              <a:t>Bookmarks can be useful if a web page is very long.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>
                <a:latin typeface="Rockwell" panose="02060603020205020403" pitchFamily="18" charset="0"/>
              </a:rPr>
              <a:t>Create a bookmark, then add a link to it.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5400">
                <a:latin typeface="Rockwell" panose="02060603020205020403" pitchFamily="18" charset="0"/>
              </a:rPr>
              <a:t>When the link is clicked, the page will scroll down or up to the location with the bookmark.</a:t>
            </a:r>
          </a:p>
        </p:txBody>
      </p:sp>
    </p:spTree>
    <p:extLst>
      <p:ext uri="{BB962C8B-B14F-4D97-AF65-F5344CB8AC3E}">
        <p14:creationId xmlns:p14="http://schemas.microsoft.com/office/powerpoint/2010/main" val="336222879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051ca-0ac7-4425-87d7-57354384b50f" xsi:nil="true"/>
    <lcf76f155ced4ddcb4097134ff3c332f xmlns="9af8d393-aa17-400d-a7a8-b22c6a5247f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AE54D3B7ABF4E94265188B1A3732A" ma:contentTypeVersion="10" ma:contentTypeDescription="Create a new document." ma:contentTypeScope="" ma:versionID="d59c04619bafb1e42b43ede57214fcd9">
  <xsd:schema xmlns:xsd="http://www.w3.org/2001/XMLSchema" xmlns:xs="http://www.w3.org/2001/XMLSchema" xmlns:p="http://schemas.microsoft.com/office/2006/metadata/properties" xmlns:ns2="9af8d393-aa17-400d-a7a8-b22c6a5247f0" xmlns:ns3="f06051ca-0ac7-4425-87d7-57354384b50f" targetNamespace="http://schemas.microsoft.com/office/2006/metadata/properties" ma:root="true" ma:fieldsID="972f344bc57fd1c457fb3445845fee4d" ns2:_="" ns3:_="">
    <xsd:import namespace="9af8d393-aa17-400d-a7a8-b22c6a5247f0"/>
    <xsd:import namespace="f06051ca-0ac7-4425-87d7-57354384b5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8d393-aa17-400d-a7a8-b22c6a524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da769e0-a300-417a-b7fa-e0277e530a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051ca-0ac7-4425-87d7-57354384b50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d8e6903-f70f-4293-bd91-5adc119538b8}" ma:internalName="TaxCatchAll" ma:showField="CatchAllData" ma:web="f06051ca-0ac7-4425-87d7-57354384b5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FF6905-9167-4C99-AD4D-08854AE4A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055121-8C7F-4422-ADD1-8B77DAAA90C4}">
  <ds:schemaRefs>
    <ds:schemaRef ds:uri="9af8d393-aa17-400d-a7a8-b22c6a5247f0"/>
    <ds:schemaRef ds:uri="f06051ca-0ac7-4425-87d7-57354384b50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51FA78E-979B-4BA3-80C8-AD49812F721E}">
  <ds:schemaRefs>
    <ds:schemaRef ds:uri="9af8d393-aa17-400d-a7a8-b22c6a5247f0"/>
    <ds:schemaRef ds:uri="f06051ca-0ac7-4425-87d7-57354384b5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Hyperlinks Tag and Attributes</dc:title>
  <dc:creator>"Marissa Rante" &lt;m.rante@claretschool.edu.ph&gt;</dc:creator>
  <cp:revision>1</cp:revision>
  <dcterms:created xsi:type="dcterms:W3CDTF">2006-08-16T00:00:00Z</dcterms:created>
  <dcterms:modified xsi:type="dcterms:W3CDTF">2026-07-28T09:05:18Z</dcterms:modified>
  <dc:identifier>DAHQFxba-Ks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0x010100224AE54D3B7ABF4E94265188B1A3732A</vt:lpwstr>
  </property>
  <property fmtid="{D5CDD505-2E9C-101B-9397-08002B2CF9AE}" pid="3" name="MediaServiceImageTags">
    <vt:lpwstr/>
  </property>
</Properties>
</file>