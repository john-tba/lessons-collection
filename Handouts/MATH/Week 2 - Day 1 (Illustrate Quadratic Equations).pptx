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69" r:id="rId7"/>
    <p:sldId id="258" r:id="rId8"/>
    <p:sldId id="270" r:id="rId9"/>
    <p:sldId id="271" r:id="rId10"/>
    <p:sldId id="272" r:id="rId11"/>
    <p:sldId id="276" r:id="rId12"/>
    <p:sldId id="273" r:id="rId13"/>
    <p:sldId id="275" r:id="rId14"/>
    <p:sldId id="274" r:id="rId15"/>
    <p:sldId id="277" r:id="rId16"/>
    <p:sldId id="278" r:id="rId17"/>
    <p:sldId id="279" r:id="rId18"/>
    <p:sldId id="259" r:id="rId19"/>
    <p:sldId id="280" r:id="rId20"/>
    <p:sldId id="281" r:id="rId21"/>
    <p:sldId id="282" r:id="rId22"/>
    <p:sldId id="262" r:id="rId23"/>
  </p:sldIdLst>
  <p:sldSz cx="18288000" cy="10287000"/>
  <p:notesSz cx="6858000" cy="9144000"/>
  <p:embeddedFontLst>
    <p:embeddedFont>
      <p:font typeface="Borsok" panose="02000503000000020002" charset="0"/>
      <p:regular r:id="rId24"/>
    </p:embeddedFont>
    <p:embeddedFont>
      <p:font typeface="Bugaki" panose="020B0604020202020204" charset="0"/>
      <p:regular r:id="rId25"/>
    </p:embeddedFont>
    <p:embeddedFont>
      <p:font typeface="Cambria Math" panose="02040503050406030204" pitchFamily="18" charset="0"/>
      <p:regular r:id="rId26"/>
    </p:embeddedFont>
    <p:embeddedFont>
      <p:font typeface="Monterchi" panose="020B0604020202020204" charset="0"/>
      <p:regular r:id="rId27"/>
    </p:embeddedFont>
    <p:embeddedFont>
      <p:font typeface="Monterchi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D1E572-BD20-753D-41C6-B9430C6400D0}" v="1" dt="2026-07-28T11:30:24.4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8" d="100"/>
          <a:sy n="58" d="100"/>
        </p:scale>
        <p:origin x="446"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OGBA, HANCE ENRIQUE JOSE" userId="S::hanceenrique_sumogba0181@claretschool.edu.ph::e117a17e-68ec-4518-851d-0056aa66908b" providerId="AD" clId="Web-{ADD1E572-BD20-753D-41C6-B9430C6400D0}"/>
    <pc:docChg chg="modSld">
      <pc:chgData name="SUMOGBA, HANCE ENRIQUE JOSE" userId="S::hanceenrique_sumogba0181@claretschool.edu.ph::e117a17e-68ec-4518-851d-0056aa66908b" providerId="AD" clId="Web-{ADD1E572-BD20-753D-41C6-B9430C6400D0}" dt="2026-07-28T11:30:24.404" v="0" actId="1076"/>
      <pc:docMkLst>
        <pc:docMk/>
      </pc:docMkLst>
      <pc:sldChg chg="modSp">
        <pc:chgData name="SUMOGBA, HANCE ENRIQUE JOSE" userId="S::hanceenrique_sumogba0181@claretschool.edu.ph::e117a17e-68ec-4518-851d-0056aa66908b" providerId="AD" clId="Web-{ADD1E572-BD20-753D-41C6-B9430C6400D0}" dt="2026-07-28T11:30:24.404" v="0" actId="1076"/>
        <pc:sldMkLst>
          <pc:docMk/>
          <pc:sldMk cId="0" sldId="256"/>
        </pc:sldMkLst>
        <pc:grpChg chg="mod">
          <ac:chgData name="SUMOGBA, HANCE ENRIQUE JOSE" userId="S::hanceenrique_sumogba0181@claretschool.edu.ph::e117a17e-68ec-4518-851d-0056aa66908b" providerId="AD" clId="Web-{ADD1E572-BD20-753D-41C6-B9430C6400D0}" dt="2026-07-28T11:30:24.404" v="0" actId="1076"/>
          <ac:grpSpMkLst>
            <pc:docMk/>
            <pc:sldMk cId="0" sldId="256"/>
            <ac:grpSpMk id="2" creationId="{00000000-0000-0000-0000-000000000000}"/>
          </ac:grpSpMkLst>
        </pc:grpChg>
      </pc:sldChg>
    </pc:docChg>
  </pc:docChgLst>
  <pc:docChgLst>
    <pc:chgData name="Joshua Fajardo" userId="a34b2bc8161992c0" providerId="LiveId" clId="{A571E766-ECF9-4ACA-910F-E5F012930532}"/>
    <pc:docChg chg="custSel delSld modSld">
      <pc:chgData name="Joshua Fajardo" userId="a34b2bc8161992c0" providerId="LiveId" clId="{A571E766-ECF9-4ACA-910F-E5F012930532}" dt="2026-06-28T10:34:31.945" v="96" actId="1076"/>
      <pc:docMkLst>
        <pc:docMk/>
      </pc:docMkLst>
      <pc:sldChg chg="delSp modSp mod">
        <pc:chgData name="Joshua Fajardo" userId="a34b2bc8161992c0" providerId="LiveId" clId="{A571E766-ECF9-4ACA-910F-E5F012930532}" dt="2026-06-28T10:34:31.945" v="96" actId="1076"/>
        <pc:sldMkLst>
          <pc:docMk/>
          <pc:sldMk cId="3839828529" sldId="281"/>
        </pc:sldMkLst>
        <pc:spChg chg="mod">
          <ac:chgData name="Joshua Fajardo" userId="a34b2bc8161992c0" providerId="LiveId" clId="{A571E766-ECF9-4ACA-910F-E5F012930532}" dt="2026-06-28T10:34:29.489" v="95" actId="2710"/>
          <ac:spMkLst>
            <pc:docMk/>
            <pc:sldMk cId="3839828529" sldId="281"/>
            <ac:spMk id="6" creationId="{330D706B-CC05-7618-BD8A-161E96611906}"/>
          </ac:spMkLst>
        </pc:spChg>
        <pc:spChg chg="mod">
          <ac:chgData name="Joshua Fajardo" userId="a34b2bc8161992c0" providerId="LiveId" clId="{A571E766-ECF9-4ACA-910F-E5F012930532}" dt="2026-06-28T10:34:29.489" v="95" actId="2710"/>
          <ac:spMkLst>
            <pc:docMk/>
            <pc:sldMk cId="3839828529" sldId="281"/>
            <ac:spMk id="7" creationId="{67091297-E924-B672-72EF-5B304AD9652C}"/>
          </ac:spMkLst>
        </pc:spChg>
        <pc:spChg chg="mod">
          <ac:chgData name="Joshua Fajardo" userId="a34b2bc8161992c0" providerId="LiveId" clId="{A571E766-ECF9-4ACA-910F-E5F012930532}" dt="2026-06-28T10:34:29.489" v="95" actId="2710"/>
          <ac:spMkLst>
            <pc:docMk/>
            <pc:sldMk cId="3839828529" sldId="281"/>
            <ac:spMk id="9" creationId="{373C0480-906B-2F91-521F-13DCCF5E64BB}"/>
          </ac:spMkLst>
        </pc:spChg>
        <pc:spChg chg="mod">
          <ac:chgData name="Joshua Fajardo" userId="a34b2bc8161992c0" providerId="LiveId" clId="{A571E766-ECF9-4ACA-910F-E5F012930532}" dt="2026-06-28T10:34:29.489" v="95" actId="2710"/>
          <ac:spMkLst>
            <pc:docMk/>
            <pc:sldMk cId="3839828529" sldId="281"/>
            <ac:spMk id="10" creationId="{E8BD5F17-4C99-11FC-FD70-6A3174052F1D}"/>
          </ac:spMkLst>
        </pc:spChg>
        <pc:spChg chg="mod">
          <ac:chgData name="Joshua Fajardo" userId="a34b2bc8161992c0" providerId="LiveId" clId="{A571E766-ECF9-4ACA-910F-E5F012930532}" dt="2026-06-28T10:34:31.945" v="96" actId="1076"/>
          <ac:spMkLst>
            <pc:docMk/>
            <pc:sldMk cId="3839828529" sldId="281"/>
            <ac:spMk id="12" creationId="{498175F6-7D8A-8CEA-E301-AF906551403D}"/>
          </ac:spMkLst>
        </pc:spChg>
        <pc:spChg chg="mod">
          <ac:chgData name="Joshua Fajardo" userId="a34b2bc8161992c0" providerId="LiveId" clId="{A571E766-ECF9-4ACA-910F-E5F012930532}" dt="2026-06-28T10:34:29.489" v="95" actId="2710"/>
          <ac:spMkLst>
            <pc:docMk/>
            <pc:sldMk cId="3839828529" sldId="281"/>
            <ac:spMk id="19" creationId="{EF743E79-1584-8205-92BE-415B8DDE5808}"/>
          </ac:spMkLst>
        </pc:spChg>
        <pc:grpChg chg="mod">
          <ac:chgData name="Joshua Fajardo" userId="a34b2bc8161992c0" providerId="LiveId" clId="{A571E766-ECF9-4ACA-910F-E5F012930532}" dt="2026-06-28T10:34:29.489" v="95" actId="2710"/>
          <ac:grpSpMkLst>
            <pc:docMk/>
            <pc:sldMk cId="3839828529" sldId="281"/>
            <ac:grpSpMk id="5" creationId="{5BE4C466-268C-0B4D-E706-6BE14BA94BF7}"/>
          </ac:grpSpMkLst>
        </pc:grpChg>
        <pc:grpChg chg="mod">
          <ac:chgData name="Joshua Fajardo" userId="a34b2bc8161992c0" providerId="LiveId" clId="{A571E766-ECF9-4ACA-910F-E5F012930532}" dt="2026-06-28T10:34:29.489" v="95" actId="2710"/>
          <ac:grpSpMkLst>
            <pc:docMk/>
            <pc:sldMk cId="3839828529" sldId="281"/>
            <ac:grpSpMk id="8" creationId="{6C5C3C0A-093A-D71D-B225-C16CB9D77590}"/>
          </ac:grpSpMkLst>
        </pc:grpChg>
        <pc:grpChg chg="mod">
          <ac:chgData name="Joshua Fajardo" userId="a34b2bc8161992c0" providerId="LiveId" clId="{A571E766-ECF9-4ACA-910F-E5F012930532}" dt="2026-06-28T10:34:29.489" v="95" actId="2710"/>
          <ac:grpSpMkLst>
            <pc:docMk/>
            <pc:sldMk cId="3839828529" sldId="281"/>
            <ac:grpSpMk id="22" creationId="{C9FC49F3-9227-F7A8-9F04-BC37D65CFD6D}"/>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3.svg"/><Relationship Id="rId7" Type="http://schemas.openxmlformats.org/officeDocument/2006/relationships/image" Target="../media/image6.png"/><Relationship Id="rId12" Type="http://schemas.openxmlformats.org/officeDocument/2006/relationships/image" Target="../media/image24.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3.png"/><Relationship Id="rId10" Type="http://schemas.openxmlformats.org/officeDocument/2006/relationships/image" Target="../media/image22.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3.svg"/><Relationship Id="rId7" Type="http://schemas.openxmlformats.org/officeDocument/2006/relationships/image" Target="../media/image6.png"/><Relationship Id="rId12" Type="http://schemas.openxmlformats.org/officeDocument/2006/relationships/image" Target="../media/image24.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3.png"/><Relationship Id="rId10" Type="http://schemas.openxmlformats.org/officeDocument/2006/relationships/image" Target="../media/image22.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8.png"/><Relationship Id="rId10" Type="http://schemas.openxmlformats.org/officeDocument/2006/relationships/image" Target="../media/image31.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190506" y="0"/>
            <a:ext cx="34712554" cy="8772618"/>
            <a:chOff x="0" y="0"/>
            <a:chExt cx="46283405" cy="11696823"/>
          </a:xfrm>
        </p:grpSpPr>
        <p:sp>
          <p:nvSpPr>
            <p:cNvPr id="3" name="Freeform 3"/>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p:cNvGrpSpPr/>
          <p:nvPr/>
        </p:nvGrpSpPr>
        <p:grpSpPr>
          <a:xfrm>
            <a:off x="0" y="8229603"/>
            <a:ext cx="18288000" cy="2057397"/>
            <a:chOff x="0" y="0"/>
            <a:chExt cx="4816593" cy="541866"/>
          </a:xfrm>
        </p:grpSpPr>
        <p:sp>
          <p:nvSpPr>
            <p:cNvPr id="6" name="Freeform 6"/>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1044510">
            <a:off x="432583" y="5509725"/>
            <a:ext cx="2278479" cy="2204428"/>
          </a:xfrm>
          <a:custGeom>
            <a:avLst/>
            <a:gdLst/>
            <a:ahLst/>
            <a:cxnLst/>
            <a:rect l="l" t="t" r="r" b="b"/>
            <a:pathLst>
              <a:path w="2278479" h="2204428">
                <a:moveTo>
                  <a:pt x="0" y="0"/>
                </a:moveTo>
                <a:lnTo>
                  <a:pt x="2278479" y="0"/>
                </a:lnTo>
                <a:lnTo>
                  <a:pt x="2278479" y="2204428"/>
                </a:lnTo>
                <a:lnTo>
                  <a:pt x="0" y="22044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9" name="Freeform 9"/>
          <p:cNvSpPr/>
          <p:nvPr/>
        </p:nvSpPr>
        <p:spPr>
          <a:xfrm>
            <a:off x="15830566" y="498475"/>
            <a:ext cx="1948919" cy="2057400"/>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10" name="Freeform 10"/>
          <p:cNvSpPr/>
          <p:nvPr/>
        </p:nvSpPr>
        <p:spPr>
          <a:xfrm rot="-1252704">
            <a:off x="15906129" y="6843307"/>
            <a:ext cx="2107469" cy="812334"/>
          </a:xfrm>
          <a:custGeom>
            <a:avLst/>
            <a:gdLst/>
            <a:ahLst/>
            <a:cxnLst/>
            <a:rect l="l" t="t" r="r" b="b"/>
            <a:pathLst>
              <a:path w="2107469" h="812334">
                <a:moveTo>
                  <a:pt x="0" y="0"/>
                </a:moveTo>
                <a:lnTo>
                  <a:pt x="2107469" y="0"/>
                </a:lnTo>
                <a:lnTo>
                  <a:pt x="2107469" y="812333"/>
                </a:lnTo>
                <a:lnTo>
                  <a:pt x="0" y="8123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1" name="Freeform 11"/>
          <p:cNvSpPr/>
          <p:nvPr/>
        </p:nvSpPr>
        <p:spPr>
          <a:xfrm rot="-2612862">
            <a:off x="2194794" y="2267616"/>
            <a:ext cx="553303" cy="792492"/>
          </a:xfrm>
          <a:custGeom>
            <a:avLst/>
            <a:gdLst/>
            <a:ahLst/>
            <a:cxnLst/>
            <a:rect l="l" t="t" r="r" b="b"/>
            <a:pathLst>
              <a:path w="553303" h="792492">
                <a:moveTo>
                  <a:pt x="0" y="0"/>
                </a:moveTo>
                <a:lnTo>
                  <a:pt x="553303" y="0"/>
                </a:lnTo>
                <a:lnTo>
                  <a:pt x="553303" y="792492"/>
                </a:lnTo>
                <a:lnTo>
                  <a:pt x="0" y="7924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2" name="TextBox 12"/>
          <p:cNvSpPr txBox="1"/>
          <p:nvPr/>
        </p:nvSpPr>
        <p:spPr>
          <a:xfrm>
            <a:off x="1885294" y="3001962"/>
            <a:ext cx="14517412" cy="2600325"/>
          </a:xfrm>
          <a:prstGeom prst="rect">
            <a:avLst/>
          </a:prstGeom>
        </p:spPr>
        <p:txBody>
          <a:bodyPr lIns="0" tIns="0" rIns="0" bIns="0" rtlCol="0" anchor="t">
            <a:spAutoFit/>
          </a:bodyPr>
          <a:lstStyle/>
          <a:p>
            <a:pPr algn="ctr">
              <a:lnSpc>
                <a:spcPts val="21000"/>
              </a:lnSpc>
            </a:pPr>
            <a:r>
              <a:rPr lang="en-US" sz="15000" dirty="0">
                <a:solidFill>
                  <a:srgbClr val="223939"/>
                </a:solidFill>
                <a:latin typeface="Borsok"/>
                <a:ea typeface="Borsok"/>
                <a:cs typeface="Borsok"/>
                <a:sym typeface="Borsok"/>
              </a:rPr>
              <a:t>MATHEMATICS</a:t>
            </a:r>
          </a:p>
        </p:txBody>
      </p:sp>
      <p:sp>
        <p:nvSpPr>
          <p:cNvPr id="13" name="Freeform 13"/>
          <p:cNvSpPr/>
          <p:nvPr/>
        </p:nvSpPr>
        <p:spPr>
          <a:xfrm rot="7796296">
            <a:off x="15806891" y="5011824"/>
            <a:ext cx="553303" cy="792492"/>
          </a:xfrm>
          <a:custGeom>
            <a:avLst/>
            <a:gdLst/>
            <a:ahLst/>
            <a:cxnLst/>
            <a:rect l="l" t="t" r="r" b="b"/>
            <a:pathLst>
              <a:path w="553303" h="792492">
                <a:moveTo>
                  <a:pt x="0" y="0"/>
                </a:moveTo>
                <a:lnTo>
                  <a:pt x="553303" y="0"/>
                </a:lnTo>
                <a:lnTo>
                  <a:pt x="553303" y="792491"/>
                </a:lnTo>
                <a:lnTo>
                  <a:pt x="0" y="7924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4" name="Freeform 14"/>
          <p:cNvSpPr/>
          <p:nvPr/>
        </p:nvSpPr>
        <p:spPr>
          <a:xfrm flipH="1">
            <a:off x="389691" y="325554"/>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7"/>
            <a:stretch>
              <a:fillRect/>
            </a:stretch>
          </a:blipFill>
        </p:spPr>
        <p:txBody>
          <a:bodyPr/>
          <a:lstStyle/>
          <a:p>
            <a:endParaRPr lang="en-PH"/>
          </a:p>
        </p:txBody>
      </p:sp>
      <p:sp>
        <p:nvSpPr>
          <p:cNvPr id="15" name="TextBox 15"/>
          <p:cNvSpPr txBox="1"/>
          <p:nvPr/>
        </p:nvSpPr>
        <p:spPr>
          <a:xfrm>
            <a:off x="4887415" y="8757604"/>
            <a:ext cx="8817969" cy="896620"/>
          </a:xfrm>
          <a:prstGeom prst="rect">
            <a:avLst/>
          </a:prstGeom>
        </p:spPr>
        <p:txBody>
          <a:bodyPr lIns="0" tIns="0" rIns="0" bIns="0" rtlCol="0" anchor="t">
            <a:spAutoFit/>
          </a:bodyPr>
          <a:lstStyle/>
          <a:p>
            <a:pPr algn="ctr">
              <a:lnSpc>
                <a:spcPts val="7279"/>
              </a:lnSpc>
            </a:pPr>
            <a:r>
              <a:rPr lang="en-US" sz="5199" b="1">
                <a:solidFill>
                  <a:srgbClr val="E1E1E1"/>
                </a:solidFill>
                <a:latin typeface="Monterchi Bold"/>
                <a:ea typeface="Monterchi Bold"/>
                <a:cs typeface="Monterchi Bold"/>
                <a:sym typeface="Monterchi Bold"/>
              </a:rPr>
              <a:t>Prepared by: Mr. Fajardo</a:t>
            </a:r>
          </a:p>
        </p:txBody>
      </p:sp>
      <p:sp>
        <p:nvSpPr>
          <p:cNvPr id="16" name="TextBox 16"/>
          <p:cNvSpPr txBox="1"/>
          <p:nvPr/>
        </p:nvSpPr>
        <p:spPr>
          <a:xfrm>
            <a:off x="2988644" y="2468999"/>
            <a:ext cx="11868503" cy="958850"/>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Welcome to our</a:t>
            </a:r>
          </a:p>
        </p:txBody>
      </p:sp>
      <p:sp>
        <p:nvSpPr>
          <p:cNvPr id="17" name="TextBox 17"/>
          <p:cNvSpPr txBox="1"/>
          <p:nvPr/>
        </p:nvSpPr>
        <p:spPr>
          <a:xfrm>
            <a:off x="3364463" y="5180779"/>
            <a:ext cx="11868503" cy="958850"/>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Class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p:cNvGrpSpPr/>
          <p:nvPr/>
        </p:nvGrpSpPr>
        <p:grpSpPr>
          <a:xfrm>
            <a:off x="895400" y="1559280"/>
            <a:ext cx="16497199" cy="7607883"/>
            <a:chOff x="0" y="0"/>
            <a:chExt cx="4344941" cy="2003722"/>
          </a:xfrm>
        </p:grpSpPr>
        <p:sp>
          <p:nvSpPr>
            <p:cNvPr id="6" name="Freeform 6"/>
            <p:cNvSpPr/>
            <p:nvPr/>
          </p:nvSpPr>
          <p:spPr>
            <a:xfrm>
              <a:off x="0" y="0"/>
              <a:ext cx="4344941" cy="2003722"/>
            </a:xfrm>
            <a:custGeom>
              <a:avLst/>
              <a:gdLst/>
              <a:ahLst/>
              <a:cxnLst/>
              <a:rect l="l" t="t" r="r" b="b"/>
              <a:pathLst>
                <a:path w="4344941" h="2003722">
                  <a:moveTo>
                    <a:pt x="23934" y="0"/>
                  </a:moveTo>
                  <a:lnTo>
                    <a:pt x="4321008" y="0"/>
                  </a:lnTo>
                  <a:cubicBezTo>
                    <a:pt x="4327355" y="0"/>
                    <a:pt x="4333443" y="2522"/>
                    <a:pt x="4337931" y="7010"/>
                  </a:cubicBezTo>
                  <a:cubicBezTo>
                    <a:pt x="4342420" y="11498"/>
                    <a:pt x="4344941" y="17586"/>
                    <a:pt x="4344941" y="23934"/>
                  </a:cubicBezTo>
                  <a:lnTo>
                    <a:pt x="4344941" y="1979789"/>
                  </a:lnTo>
                  <a:cubicBezTo>
                    <a:pt x="4344941" y="1993007"/>
                    <a:pt x="4334226" y="2003722"/>
                    <a:pt x="4321008" y="2003722"/>
                  </a:cubicBezTo>
                  <a:lnTo>
                    <a:pt x="23934" y="2003722"/>
                  </a:lnTo>
                  <a:cubicBezTo>
                    <a:pt x="10715" y="2003722"/>
                    <a:pt x="0" y="1993007"/>
                    <a:pt x="0" y="1979789"/>
                  </a:cubicBezTo>
                  <a:lnTo>
                    <a:pt x="0" y="23934"/>
                  </a:lnTo>
                  <a:cubicBezTo>
                    <a:pt x="0" y="10715"/>
                    <a:pt x="10715" y="0"/>
                    <a:pt x="23934" y="0"/>
                  </a:cubicBezTo>
                  <a:close/>
                </a:path>
              </a:pathLst>
            </a:custGeom>
            <a:solidFill>
              <a:srgbClr val="FFFFFF"/>
            </a:solidFill>
            <a:ln w="123825" cap="rnd">
              <a:solidFill>
                <a:srgbClr val="223939"/>
              </a:solidFill>
              <a:prstDash val="lgDash"/>
              <a:round/>
            </a:ln>
          </p:spPr>
          <p:txBody>
            <a:bodyPr/>
            <a:lstStyle/>
            <a:p>
              <a:endParaRPr lang="en-PH"/>
            </a:p>
          </p:txBody>
        </p:sp>
        <p:sp>
          <p:nvSpPr>
            <p:cNvPr id="7" name="TextBox 7"/>
            <p:cNvSpPr txBox="1"/>
            <p:nvPr/>
          </p:nvSpPr>
          <p:spPr>
            <a:xfrm>
              <a:off x="0" y="-38100"/>
              <a:ext cx="4344941" cy="20418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6611354" y="2541957"/>
            <a:ext cx="3353292" cy="1060479"/>
          </a:xfrm>
          <a:custGeom>
            <a:avLst/>
            <a:gdLst/>
            <a:ahLst/>
            <a:cxnLst/>
            <a:rect l="l" t="t" r="r" b="b"/>
            <a:pathLst>
              <a:path w="3353292" h="1060479">
                <a:moveTo>
                  <a:pt x="0" y="0"/>
                </a:moveTo>
                <a:lnTo>
                  <a:pt x="3353292" y="0"/>
                </a:lnTo>
                <a:lnTo>
                  <a:pt x="3353292" y="1060479"/>
                </a:lnTo>
                <a:lnTo>
                  <a:pt x="0" y="1060479"/>
                </a:lnTo>
                <a:lnTo>
                  <a:pt x="0" y="0"/>
                </a:lnTo>
                <a:close/>
              </a:path>
            </a:pathLst>
          </a:custGeom>
          <a:blipFill>
            <a:blip r:embed="rId3"/>
            <a:stretch>
              <a:fillRect/>
            </a:stretch>
          </a:blipFill>
        </p:spPr>
        <p:txBody>
          <a:bodyPr/>
          <a:lstStyle/>
          <a:p>
            <a:endParaRPr lang="en-PH"/>
          </a:p>
        </p:txBody>
      </p:sp>
      <p:grpSp>
        <p:nvGrpSpPr>
          <p:cNvPr id="15" name="Group 14">
            <a:extLst>
              <a:ext uri="{FF2B5EF4-FFF2-40B4-BE49-F238E27FC236}">
                <a16:creationId xmlns:a16="http://schemas.microsoft.com/office/drawing/2014/main" id="{EE6EA8F9-BF56-FA78-4D74-C4F71062B50B}"/>
              </a:ext>
            </a:extLst>
          </p:cNvPr>
          <p:cNvGrpSpPr/>
          <p:nvPr/>
        </p:nvGrpSpPr>
        <p:grpSpPr>
          <a:xfrm>
            <a:off x="2213733" y="730327"/>
            <a:ext cx="10740267" cy="1657907"/>
            <a:chOff x="2213733" y="730327"/>
            <a:chExt cx="10740267" cy="1657907"/>
          </a:xfrm>
        </p:grpSpPr>
        <p:grpSp>
          <p:nvGrpSpPr>
            <p:cNvPr id="8" name="Group 8"/>
            <p:cNvGrpSpPr/>
            <p:nvPr/>
          </p:nvGrpSpPr>
          <p:grpSpPr>
            <a:xfrm>
              <a:off x="2213733" y="730327"/>
              <a:ext cx="10740267" cy="1657907"/>
              <a:chOff x="0" y="0"/>
              <a:chExt cx="2693549" cy="436650"/>
            </a:xfrm>
          </p:grpSpPr>
          <p:sp>
            <p:nvSpPr>
              <p:cNvPr id="9" name="Freeform 9"/>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362200" y="1020671"/>
              <a:ext cx="10227067" cy="1077218"/>
            </a:xfrm>
            <a:prstGeom prst="rect">
              <a:avLst/>
            </a:prstGeom>
          </p:spPr>
          <p:txBody>
            <a:bodyPr wrap="square" lIns="0" tIns="0" rIns="0" bIns="0" rtlCol="0" anchor="t">
              <a:spAutoFit/>
            </a:bodyPr>
            <a:lstStyle/>
            <a:p>
              <a:pPr algn="ctr">
                <a:lnSpc>
                  <a:spcPts val="8399"/>
                </a:lnSpc>
              </a:pPr>
              <a:r>
                <a:rPr lang="en-US" sz="7000" dirty="0">
                  <a:solidFill>
                    <a:srgbClr val="E1E1E1"/>
                  </a:solidFill>
                  <a:latin typeface="Bugaki"/>
                  <a:ea typeface="Bugaki"/>
                  <a:cs typeface="Bugaki"/>
                  <a:sym typeface="Bugaki"/>
                </a:rPr>
                <a:t>Learning Objectives</a:t>
              </a:r>
            </a:p>
          </p:txBody>
        </p:sp>
      </p:grpSp>
      <mc:AlternateContent xmlns:mc="http://schemas.openxmlformats.org/markup-compatibility/2006" xmlns:a14="http://schemas.microsoft.com/office/drawing/2010/main">
        <mc:Choice Requires="a14">
          <p:sp>
            <p:nvSpPr>
              <p:cNvPr id="13" name="TextBox 13"/>
              <p:cNvSpPr txBox="1"/>
              <p:nvPr/>
            </p:nvSpPr>
            <p:spPr>
              <a:xfrm>
                <a:off x="1762687" y="2808164"/>
                <a:ext cx="14727792" cy="4376198"/>
              </a:xfrm>
              <a:prstGeom prst="rect">
                <a:avLst/>
              </a:prstGeom>
            </p:spPr>
            <p:txBody>
              <a:bodyPr lIns="0" tIns="0" rIns="0" bIns="0" rtlCol="0" anchor="t">
                <a:spAutoFit/>
              </a:bodyPr>
              <a:lstStyle/>
              <a:p>
                <a:pPr marL="1079501" lvl="1" indent="-539750" algn="l">
                  <a:lnSpc>
                    <a:spcPct val="150000"/>
                  </a:lnSpc>
                  <a:buFont typeface="Arial"/>
                  <a:buChar char="•"/>
                </a:pPr>
                <a:r>
                  <a:rPr lang="en-US" sz="6500" dirty="0">
                    <a:solidFill>
                      <a:srgbClr val="1C2B2B"/>
                    </a:solidFill>
                    <a:latin typeface="Monterchi"/>
                    <a:ea typeface="Monterchi"/>
                    <a:cs typeface="Monterchi"/>
                    <a:sym typeface="Monterchi"/>
                  </a:rPr>
                  <a:t>Illustrate quadratic equations</a:t>
                </a:r>
              </a:p>
              <a:p>
                <a:pPr marL="1079501" lvl="1" indent="-539750" algn="l">
                  <a:lnSpc>
                    <a:spcPct val="150000"/>
                  </a:lnSpc>
                  <a:buFont typeface="Arial"/>
                  <a:buChar char="•"/>
                </a:pPr>
                <a:r>
                  <a:rPr lang="en-US" sz="6500" dirty="0">
                    <a:solidFill>
                      <a:srgbClr val="1C2B2B"/>
                    </a:solidFill>
                    <a:latin typeface="Monterchi"/>
                    <a:ea typeface="Monterchi"/>
                    <a:cs typeface="Monterchi"/>
                    <a:sym typeface="Monterchi"/>
                  </a:rPr>
                  <a:t>Write quadratic equations in standard form</a:t>
                </a:r>
              </a:p>
              <a:p>
                <a:pPr marL="1079501" lvl="1" indent="-539750" algn="l">
                  <a:lnSpc>
                    <a:spcPct val="150000"/>
                  </a:lnSpc>
                  <a:buFont typeface="Arial"/>
                  <a:buChar char="•"/>
                </a:pPr>
                <a:r>
                  <a:rPr lang="en-US" sz="6500" dirty="0">
                    <a:solidFill>
                      <a:srgbClr val="1C2B2B"/>
                    </a:solidFill>
                    <a:latin typeface="Monterchi"/>
                    <a:ea typeface="Monterchi"/>
                    <a:cs typeface="Monterchi"/>
                    <a:sym typeface="Monterchi"/>
                  </a:rPr>
                  <a:t>Identify the values of </a:t>
                </a:r>
                <a14:m>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𝑎</m:t>
                    </m:r>
                    <m:r>
                      <a:rPr lang="en-PH" sz="6500" b="0" i="1" smtClean="0">
                        <a:solidFill>
                          <a:srgbClr val="1C2B2B"/>
                        </a:solidFill>
                        <a:latin typeface="Cambria Math" panose="02040503050406030204" pitchFamily="18" charset="0"/>
                        <a:ea typeface="Monterchi"/>
                        <a:cs typeface="Monterchi"/>
                        <a:sym typeface="Monterchi"/>
                      </a:rPr>
                      <m:t>, </m:t>
                    </m:r>
                    <m:r>
                      <a:rPr lang="en-PH" sz="6500" b="0" i="1" smtClean="0">
                        <a:solidFill>
                          <a:srgbClr val="1C2B2B"/>
                        </a:solidFill>
                        <a:latin typeface="Cambria Math" panose="02040503050406030204" pitchFamily="18" charset="0"/>
                        <a:ea typeface="Monterchi"/>
                        <a:cs typeface="Monterchi"/>
                        <a:sym typeface="Monterchi"/>
                      </a:rPr>
                      <m:t>𝑏</m:t>
                    </m:r>
                    <m:r>
                      <a:rPr lang="en-PH" sz="6500" b="0" i="1" smtClean="0">
                        <a:solidFill>
                          <a:srgbClr val="1C2B2B"/>
                        </a:solidFill>
                        <a:latin typeface="Cambria Math" panose="02040503050406030204" pitchFamily="18" charset="0"/>
                        <a:ea typeface="Monterchi"/>
                        <a:cs typeface="Monterchi"/>
                        <a:sym typeface="Monterchi"/>
                      </a:rPr>
                      <m:t>,</m:t>
                    </m:r>
                  </m:oMath>
                </a14:m>
                <a:r>
                  <a:rPr lang="en-US" sz="6500" dirty="0">
                    <a:solidFill>
                      <a:srgbClr val="1C2B2B"/>
                    </a:solidFill>
                    <a:latin typeface="Monterchi"/>
                    <a:ea typeface="Monterchi"/>
                    <a:cs typeface="Monterchi"/>
                    <a:sym typeface="Monterchi"/>
                  </a:rPr>
                  <a:t> and </a:t>
                </a:r>
                <a14:m>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𝑐</m:t>
                    </m:r>
                  </m:oMath>
                </a14:m>
                <a:endParaRPr lang="en-US" sz="6500" dirty="0">
                  <a:solidFill>
                    <a:srgbClr val="1C2B2B"/>
                  </a:solidFill>
                  <a:latin typeface="Monterchi"/>
                  <a:ea typeface="Monterchi"/>
                  <a:cs typeface="Monterchi"/>
                  <a:sym typeface="Monterchi"/>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1762687" y="2808164"/>
                <a:ext cx="14727792" cy="4376198"/>
              </a:xfrm>
              <a:prstGeom prst="rect">
                <a:avLst/>
              </a:prstGeom>
              <a:blipFill>
                <a:blip r:embed="rId5"/>
                <a:stretch>
                  <a:fillRect b="-11699"/>
                </a:stretch>
              </a:blipFill>
            </p:spPr>
            <p:txBody>
              <a:bodyPr/>
              <a:lstStyle/>
              <a:p>
                <a:r>
                  <a:rPr lang="en-PH">
                    <a:noFill/>
                  </a:rPr>
                  <a:t> </a:t>
                </a:r>
              </a:p>
            </p:txBody>
          </p:sp>
        </mc:Fallback>
      </mc:AlternateContent>
      <p:sp>
        <p:nvSpPr>
          <p:cNvPr id="14" name="Freeform 14"/>
          <p:cNvSpPr/>
          <p:nvPr/>
        </p:nvSpPr>
        <p:spPr>
          <a:xfrm>
            <a:off x="-1573188" y="7256692"/>
            <a:ext cx="3353292" cy="1060479"/>
          </a:xfrm>
          <a:custGeom>
            <a:avLst/>
            <a:gdLst/>
            <a:ahLst/>
            <a:cxnLst/>
            <a:rect l="l" t="t" r="r" b="b"/>
            <a:pathLst>
              <a:path w="3353292" h="1060479">
                <a:moveTo>
                  <a:pt x="0" y="0"/>
                </a:moveTo>
                <a:lnTo>
                  <a:pt x="3353292" y="0"/>
                </a:lnTo>
                <a:lnTo>
                  <a:pt x="3353292" y="1060479"/>
                </a:lnTo>
                <a:lnTo>
                  <a:pt x="0" y="1060479"/>
                </a:lnTo>
                <a:lnTo>
                  <a:pt x="0" y="0"/>
                </a:lnTo>
                <a:close/>
              </a:path>
            </a:pathLst>
          </a:custGeom>
          <a:blipFill>
            <a:blip r:embed="rId3"/>
            <a:stretch>
              <a:fillRect/>
            </a:stretch>
          </a:blipFill>
        </p:spPr>
        <p:txBody>
          <a:bodyPr/>
          <a:lstStyle/>
          <a:p>
            <a:endParaRPr lang="en-PH"/>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A9AE0-55CF-EEA2-576A-75004A6BA73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14BFB31-C535-B289-92B3-FBBCF7DF4BA3}"/>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A0F15A11-8238-6F76-1C59-9376732FEE10}"/>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69C64518-CD2C-982C-BB9F-F427F3274B03}"/>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9F967D7B-276A-AA63-4F3A-E8B437EE709F}"/>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1635E373-7780-2FD5-4EC1-E1DB884A4007}"/>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7758FE94-4CFF-733A-35DA-C06515A9E824}"/>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1BF7F374-CD92-D3D5-C40B-F02EF5BA947C}"/>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3EEF1B9D-F85C-205D-5959-16DC2E24EAE4}"/>
              </a:ext>
            </a:extLst>
          </p:cNvPr>
          <p:cNvSpPr txBox="1"/>
          <p:nvPr/>
        </p:nvSpPr>
        <p:spPr>
          <a:xfrm>
            <a:off x="1853726" y="2134340"/>
            <a:ext cx="14517412" cy="5386090"/>
          </a:xfrm>
          <a:prstGeom prst="rect">
            <a:avLst/>
          </a:prstGeom>
        </p:spPr>
        <p:txBody>
          <a:bodyPr lIns="0" tIns="0" rIns="0" bIns="0" rtlCol="0" anchor="t">
            <a:spAutoFit/>
          </a:bodyPr>
          <a:lstStyle/>
          <a:p>
            <a:pPr algn="ctr">
              <a:lnSpc>
                <a:spcPts val="21000"/>
              </a:lnSpc>
            </a:pPr>
            <a:r>
              <a:rPr lang="en-US" sz="20000" dirty="0">
                <a:solidFill>
                  <a:srgbClr val="223939"/>
                </a:solidFill>
                <a:latin typeface="Borsok"/>
                <a:ea typeface="Borsok"/>
                <a:cs typeface="Borsok"/>
                <a:sym typeface="Borsok"/>
              </a:rPr>
              <a:t>Let’s explore!</a:t>
            </a:r>
          </a:p>
        </p:txBody>
      </p:sp>
      <p:sp>
        <p:nvSpPr>
          <p:cNvPr id="14" name="Freeform 14">
            <a:extLst>
              <a:ext uri="{FF2B5EF4-FFF2-40B4-BE49-F238E27FC236}">
                <a16:creationId xmlns:a16="http://schemas.microsoft.com/office/drawing/2014/main" id="{38835F72-F6A7-1FE7-9A0D-322C8B5E3347}"/>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p:spTree>
    <p:extLst>
      <p:ext uri="{BB962C8B-B14F-4D97-AF65-F5344CB8AC3E}">
        <p14:creationId xmlns:p14="http://schemas.microsoft.com/office/powerpoint/2010/main" val="838669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1182B79A-C2CE-386A-7955-C84EC2824D6F}"/>
              </a:ext>
            </a:extLst>
          </p:cNvPr>
          <p:cNvGrpSpPr/>
          <p:nvPr/>
        </p:nvGrpSpPr>
        <p:grpSpPr>
          <a:xfrm>
            <a:off x="2724931" y="1177261"/>
            <a:ext cx="12838139" cy="7932477"/>
            <a:chOff x="2724931" y="1177261"/>
            <a:chExt cx="12838139" cy="7932477"/>
          </a:xfrm>
        </p:grpSpPr>
        <p:grpSp>
          <p:nvGrpSpPr>
            <p:cNvPr id="5" name="Group 5"/>
            <p:cNvGrpSpPr/>
            <p:nvPr/>
          </p:nvGrpSpPr>
          <p:grpSpPr>
            <a:xfrm>
              <a:off x="2724931" y="2006214"/>
              <a:ext cx="12838139" cy="7103524"/>
              <a:chOff x="0" y="0"/>
              <a:chExt cx="3381238" cy="1870887"/>
            </a:xfrm>
          </p:grpSpPr>
          <p:sp>
            <p:nvSpPr>
              <p:cNvPr id="6" name="Freeform 6"/>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057932" y="1177261"/>
              <a:ext cx="10227067" cy="1657907"/>
              <a:chOff x="0" y="0"/>
              <a:chExt cx="2693549" cy="436650"/>
            </a:xfrm>
          </p:grpSpPr>
          <p:sp>
            <p:nvSpPr>
              <p:cNvPr id="9" name="Freeform 9"/>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p:cNvSpPr txBox="1"/>
                <p:nvPr/>
              </p:nvSpPr>
              <p:spPr>
                <a:xfrm>
                  <a:off x="3007975" y="3099871"/>
                  <a:ext cx="12308225" cy="5745163"/>
                </a:xfrm>
                <a:prstGeom prst="rect">
                  <a:avLst/>
                </a:prstGeom>
              </p:spPr>
              <p:txBody>
                <a:bodyPr wrap="square" lIns="0" tIns="0" rIns="0" bIns="0" rtlCol="0" anchor="t">
                  <a:spAutoFit/>
                </a:bodyPr>
                <a:lstStyle/>
                <a:p>
                  <a:pPr marL="431799" lvl="1" algn="just">
                    <a:lnSpc>
                      <a:spcPts val="5599"/>
                    </a:lnSpc>
                  </a:pPr>
                  <a:r>
                    <a:rPr lang="en-US" sz="3999" dirty="0">
                      <a:solidFill>
                        <a:srgbClr val="1C2B2B"/>
                      </a:solidFill>
                      <a:latin typeface="Monterchi"/>
                      <a:ea typeface="Monterchi"/>
                      <a:cs typeface="Monterchi"/>
                      <a:sym typeface="Monterchi"/>
                    </a:rPr>
                    <a:t>After a typhoon caused by a power outage, Juan wants to build a solar-powered generator for his neighbors. He has a rectangular piece of a plywood with an area of </a:t>
                  </a:r>
                  <a14:m>
                    <m:oMath xmlns:m="http://schemas.openxmlformats.org/officeDocument/2006/math">
                      <m:r>
                        <a:rPr lang="en-PH" sz="3999" b="0" i="1" smtClean="0">
                          <a:solidFill>
                            <a:srgbClr val="1C2B2B"/>
                          </a:solidFill>
                          <a:latin typeface="Cambria Math" panose="02040503050406030204" pitchFamily="18" charset="0"/>
                          <a:ea typeface="Monterchi"/>
                          <a:cs typeface="Monterchi"/>
                          <a:sym typeface="Monterchi"/>
                        </a:rPr>
                        <m:t>18</m:t>
                      </m:r>
                      <m:sSup>
                        <m:sSupPr>
                          <m:ctrlPr>
                            <a:rPr lang="en-PH" sz="3999" b="0" i="1" smtClean="0">
                              <a:solidFill>
                                <a:srgbClr val="1C2B2B"/>
                              </a:solidFill>
                              <a:latin typeface="Cambria Math" panose="02040503050406030204" pitchFamily="18" charset="0"/>
                              <a:ea typeface="Monterchi"/>
                              <a:cs typeface="Monterchi"/>
                              <a:sym typeface="Monterchi"/>
                            </a:rPr>
                          </m:ctrlPr>
                        </m:sSupPr>
                        <m:e>
                          <m:r>
                            <a:rPr lang="en-PH" sz="3999" b="0" i="1" smtClean="0">
                              <a:solidFill>
                                <a:srgbClr val="1C2B2B"/>
                              </a:solidFill>
                              <a:latin typeface="Cambria Math" panose="02040503050406030204" pitchFamily="18" charset="0"/>
                              <a:ea typeface="Monterchi"/>
                              <a:cs typeface="Monterchi"/>
                              <a:sym typeface="Monterchi"/>
                            </a:rPr>
                            <m:t>𝑚</m:t>
                          </m:r>
                        </m:e>
                        <m:sup>
                          <m:r>
                            <a:rPr lang="en-PH" sz="3999" b="0" i="1" smtClean="0">
                              <a:solidFill>
                                <a:srgbClr val="1C2B2B"/>
                              </a:solidFill>
                              <a:latin typeface="Cambria Math" panose="02040503050406030204" pitchFamily="18" charset="0"/>
                              <a:ea typeface="Monterchi"/>
                              <a:cs typeface="Monterchi"/>
                              <a:sym typeface="Monterchi"/>
                            </a:rPr>
                            <m:t>2</m:t>
                          </m:r>
                        </m:sup>
                      </m:sSup>
                      <m:r>
                        <a:rPr lang="en-PH" sz="3999" b="0" i="1" smtClean="0">
                          <a:solidFill>
                            <a:srgbClr val="1C2B2B"/>
                          </a:solidFill>
                          <a:latin typeface="Cambria Math" panose="02040503050406030204" pitchFamily="18" charset="0"/>
                          <a:ea typeface="Monterchi"/>
                          <a:cs typeface="Monterchi"/>
                          <a:sym typeface="Monterchi"/>
                        </a:rPr>
                        <m:t>.</m:t>
                      </m:r>
                    </m:oMath>
                  </a14:m>
                  <a:r>
                    <a:rPr lang="en-US" sz="3999" dirty="0">
                      <a:solidFill>
                        <a:srgbClr val="1C2B2B"/>
                      </a:solidFill>
                      <a:latin typeface="Monterchi"/>
                      <a:ea typeface="Monterchi"/>
                      <a:cs typeface="Monterchi"/>
                      <a:sym typeface="Monterchi"/>
                    </a:rPr>
                    <a:t> Its length is </a:t>
                  </a:r>
                  <a14:m>
                    <m:oMath xmlns:m="http://schemas.openxmlformats.org/officeDocument/2006/math">
                      <m:r>
                        <a:rPr lang="en-PH" sz="3999" b="0" i="1" smtClean="0">
                          <a:solidFill>
                            <a:srgbClr val="1C2B2B"/>
                          </a:solidFill>
                          <a:latin typeface="Cambria Math" panose="02040503050406030204" pitchFamily="18" charset="0"/>
                          <a:ea typeface="Monterchi"/>
                          <a:cs typeface="Monterchi"/>
                          <a:sym typeface="Monterchi"/>
                        </a:rPr>
                        <m:t>3</m:t>
                      </m:r>
                    </m:oMath>
                  </a14:m>
                  <a:r>
                    <a:rPr lang="en-US" sz="3999" dirty="0">
                      <a:solidFill>
                        <a:srgbClr val="1C2B2B"/>
                      </a:solidFill>
                      <a:latin typeface="Monterchi"/>
                      <a:ea typeface="Monterchi"/>
                      <a:cs typeface="Monterchi"/>
                      <a:sym typeface="Monterchi"/>
                    </a:rPr>
                    <a:t> meters longer than its width. Juan needs to figure out the dimension of the plywood to avoid wasting it. With a heart full of compassion and a strong desire to make a difference, he’s determined to solve this puzzle and bring back electricity to his community. </a:t>
                  </a:r>
                </a:p>
              </p:txBody>
            </p:sp>
          </mc:Choice>
          <mc:Fallback xmlns="">
            <p:sp>
              <p:nvSpPr>
                <p:cNvPr id="12" name="TextBox 12"/>
                <p:cNvSpPr txBox="1">
                  <a:spLocks noRot="1" noChangeAspect="1" noMove="1" noResize="1" noEditPoints="1" noAdjustHandles="1" noChangeArrowheads="1" noChangeShapeType="1" noTextEdit="1"/>
                </p:cNvSpPr>
                <p:nvPr/>
              </p:nvSpPr>
              <p:spPr>
                <a:xfrm>
                  <a:off x="3007975" y="3099871"/>
                  <a:ext cx="12308225" cy="5745163"/>
                </a:xfrm>
                <a:prstGeom prst="rect">
                  <a:avLst/>
                </a:prstGeom>
                <a:blipFill>
                  <a:blip r:embed="rId4"/>
                  <a:stretch>
                    <a:fillRect t="-1062" r="-2475" b="-4352"/>
                  </a:stretch>
                </a:blipFill>
              </p:spPr>
              <p:txBody>
                <a:bodyPr/>
                <a:lstStyle/>
                <a:p>
                  <a:r>
                    <a:rPr lang="en-PH">
                      <a:noFill/>
                    </a:rPr>
                    <a:t> </a:t>
                  </a:r>
                </a:p>
              </p:txBody>
            </p:sp>
          </mc:Fallback>
        </mc:AlternateContent>
        <p:sp>
          <p:nvSpPr>
            <p:cNvPr id="19" name="TextBox 19"/>
            <p:cNvSpPr txBox="1"/>
            <p:nvPr/>
          </p:nvSpPr>
          <p:spPr>
            <a:xfrm>
              <a:off x="4330196" y="1325177"/>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Let’s Explore!</a:t>
              </a:r>
            </a:p>
          </p:txBody>
        </p:sp>
      </p:grpSp>
      <p:sp>
        <p:nvSpPr>
          <p:cNvPr id="21" name="Freeform 14">
            <a:extLst>
              <a:ext uri="{FF2B5EF4-FFF2-40B4-BE49-F238E27FC236}">
                <a16:creationId xmlns:a16="http://schemas.microsoft.com/office/drawing/2014/main" id="{A3D3CE65-191F-8E18-C50C-1C2939E234FF}"/>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EF1F1F3C-1320-179A-657E-E1A7E09201A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8A7CF43-18AE-03F1-BD17-03E6920A0F58}"/>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4DA66094-240A-8A57-862D-0B8F8720BC65}"/>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9789F8DB-B491-04FB-4D56-5F9397560F72}"/>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11" name="Group 10">
            <a:extLst>
              <a:ext uri="{FF2B5EF4-FFF2-40B4-BE49-F238E27FC236}">
                <a16:creationId xmlns:a16="http://schemas.microsoft.com/office/drawing/2014/main" id="{0A91D1D2-57F1-EB83-2236-66930F536788}"/>
              </a:ext>
            </a:extLst>
          </p:cNvPr>
          <p:cNvGrpSpPr/>
          <p:nvPr/>
        </p:nvGrpSpPr>
        <p:grpSpPr>
          <a:xfrm>
            <a:off x="762000" y="495300"/>
            <a:ext cx="12838139" cy="7932477"/>
            <a:chOff x="2724931" y="1177261"/>
            <a:chExt cx="12838139" cy="7932477"/>
          </a:xfrm>
        </p:grpSpPr>
        <p:grpSp>
          <p:nvGrpSpPr>
            <p:cNvPr id="5" name="Group 5">
              <a:extLst>
                <a:ext uri="{FF2B5EF4-FFF2-40B4-BE49-F238E27FC236}">
                  <a16:creationId xmlns:a16="http://schemas.microsoft.com/office/drawing/2014/main" id="{F7ECA838-4DE0-6ACA-FE70-A1E602E68827}"/>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618D7FAE-D032-0B80-F36A-632FBB0BC53E}"/>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FFE22F39-0406-C37E-E52B-0C4C334A3CA9}"/>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9C5AF233-3303-16CA-237E-C740EBD50622}"/>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C266FEE7-569A-F8BB-BC72-26A1BF68B968}"/>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93F46F31-AC57-6B58-A9CB-FA641903F9F9}"/>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7F62E758-C320-CC23-81CA-164C6B7C242C}"/>
                    </a:ext>
                  </a:extLst>
                </p:cNvPr>
                <p:cNvSpPr txBox="1"/>
                <p:nvPr/>
              </p:nvSpPr>
              <p:spPr>
                <a:xfrm>
                  <a:off x="3007975" y="3099871"/>
                  <a:ext cx="12308225" cy="5745163"/>
                </a:xfrm>
                <a:prstGeom prst="rect">
                  <a:avLst/>
                </a:prstGeom>
              </p:spPr>
              <p:txBody>
                <a:bodyPr wrap="square" lIns="0" tIns="0" rIns="0" bIns="0" rtlCol="0" anchor="t">
                  <a:spAutoFit/>
                </a:bodyPr>
                <a:lstStyle/>
                <a:p>
                  <a:pPr marL="431799" lvl="1" algn="just">
                    <a:lnSpc>
                      <a:spcPts val="5599"/>
                    </a:lnSpc>
                  </a:pPr>
                  <a:r>
                    <a:rPr lang="en-US" sz="3999" dirty="0">
                      <a:solidFill>
                        <a:srgbClr val="1C2B2B"/>
                      </a:solidFill>
                      <a:latin typeface="Monterchi"/>
                      <a:ea typeface="Monterchi"/>
                      <a:cs typeface="Monterchi"/>
                      <a:sym typeface="Monterchi"/>
                    </a:rPr>
                    <a:t>After a typhoon caused by a power outage, Juan wants to build a solar-powered generator for his neighbors. He has a rectangular piece of a plywood with an area of </a:t>
                  </a:r>
                  <a14:m>
                    <m:oMath xmlns:m="http://schemas.openxmlformats.org/officeDocument/2006/math">
                      <m:r>
                        <a:rPr lang="en-PH" sz="3999" b="0" i="1" smtClean="0">
                          <a:solidFill>
                            <a:srgbClr val="1C2B2B"/>
                          </a:solidFill>
                          <a:latin typeface="Cambria Math" panose="02040503050406030204" pitchFamily="18" charset="0"/>
                          <a:ea typeface="Monterchi"/>
                          <a:cs typeface="Monterchi"/>
                          <a:sym typeface="Monterchi"/>
                        </a:rPr>
                        <m:t>18</m:t>
                      </m:r>
                      <m:sSup>
                        <m:sSupPr>
                          <m:ctrlPr>
                            <a:rPr lang="en-PH" sz="3999" b="0" i="1" smtClean="0">
                              <a:solidFill>
                                <a:srgbClr val="1C2B2B"/>
                              </a:solidFill>
                              <a:latin typeface="Cambria Math" panose="02040503050406030204" pitchFamily="18" charset="0"/>
                              <a:ea typeface="Monterchi"/>
                              <a:cs typeface="Monterchi"/>
                              <a:sym typeface="Monterchi"/>
                            </a:rPr>
                          </m:ctrlPr>
                        </m:sSupPr>
                        <m:e>
                          <m:r>
                            <a:rPr lang="en-PH" sz="3999" b="0" i="1" smtClean="0">
                              <a:solidFill>
                                <a:srgbClr val="1C2B2B"/>
                              </a:solidFill>
                              <a:latin typeface="Cambria Math" panose="02040503050406030204" pitchFamily="18" charset="0"/>
                              <a:ea typeface="Monterchi"/>
                              <a:cs typeface="Monterchi"/>
                              <a:sym typeface="Monterchi"/>
                            </a:rPr>
                            <m:t>𝑚</m:t>
                          </m:r>
                        </m:e>
                        <m:sup>
                          <m:r>
                            <a:rPr lang="en-PH" sz="3999" b="0" i="1" smtClean="0">
                              <a:solidFill>
                                <a:srgbClr val="1C2B2B"/>
                              </a:solidFill>
                              <a:latin typeface="Cambria Math" panose="02040503050406030204" pitchFamily="18" charset="0"/>
                              <a:ea typeface="Monterchi"/>
                              <a:cs typeface="Monterchi"/>
                              <a:sym typeface="Monterchi"/>
                            </a:rPr>
                            <m:t>2</m:t>
                          </m:r>
                        </m:sup>
                      </m:sSup>
                      <m:r>
                        <a:rPr lang="en-PH" sz="3999" b="0" i="1" smtClean="0">
                          <a:solidFill>
                            <a:srgbClr val="1C2B2B"/>
                          </a:solidFill>
                          <a:latin typeface="Cambria Math" panose="02040503050406030204" pitchFamily="18" charset="0"/>
                          <a:ea typeface="Monterchi"/>
                          <a:cs typeface="Monterchi"/>
                          <a:sym typeface="Monterchi"/>
                        </a:rPr>
                        <m:t>.</m:t>
                      </m:r>
                    </m:oMath>
                  </a14:m>
                  <a:r>
                    <a:rPr lang="en-US" sz="3999" dirty="0">
                      <a:solidFill>
                        <a:srgbClr val="1C2B2B"/>
                      </a:solidFill>
                      <a:latin typeface="Monterchi"/>
                      <a:ea typeface="Monterchi"/>
                      <a:cs typeface="Monterchi"/>
                      <a:sym typeface="Monterchi"/>
                    </a:rPr>
                    <a:t> Its length is </a:t>
                  </a:r>
                  <a14:m>
                    <m:oMath xmlns:m="http://schemas.openxmlformats.org/officeDocument/2006/math">
                      <m:r>
                        <a:rPr lang="en-PH" sz="3999" b="0" i="1" smtClean="0">
                          <a:solidFill>
                            <a:srgbClr val="1C2B2B"/>
                          </a:solidFill>
                          <a:latin typeface="Cambria Math" panose="02040503050406030204" pitchFamily="18" charset="0"/>
                          <a:ea typeface="Monterchi"/>
                          <a:cs typeface="Monterchi"/>
                          <a:sym typeface="Monterchi"/>
                        </a:rPr>
                        <m:t>3</m:t>
                      </m:r>
                    </m:oMath>
                  </a14:m>
                  <a:r>
                    <a:rPr lang="en-US" sz="3999" dirty="0">
                      <a:solidFill>
                        <a:srgbClr val="1C2B2B"/>
                      </a:solidFill>
                      <a:latin typeface="Monterchi"/>
                      <a:ea typeface="Monterchi"/>
                      <a:cs typeface="Monterchi"/>
                      <a:sym typeface="Monterchi"/>
                    </a:rPr>
                    <a:t> meters longer than its width. Juan needs to figure out the dimension of the plywood to avoid wasting it. With a heart full of compassion and a strong desire to make a difference, he’s determined to solve this puzzle and bring back electricity to his community. </a:t>
                  </a:r>
                </a:p>
              </p:txBody>
            </p:sp>
          </mc:Choice>
          <mc:Fallback xmlns="">
            <p:sp>
              <p:nvSpPr>
                <p:cNvPr id="12" name="TextBox 12">
                  <a:extLst>
                    <a:ext uri="{FF2B5EF4-FFF2-40B4-BE49-F238E27FC236}">
                      <a16:creationId xmlns:a16="http://schemas.microsoft.com/office/drawing/2014/main" id="{7F62E758-C320-CC23-81CA-164C6B7C242C}"/>
                    </a:ext>
                  </a:extLst>
                </p:cNvPr>
                <p:cNvSpPr txBox="1">
                  <a:spLocks noRot="1" noChangeAspect="1" noMove="1" noResize="1" noEditPoints="1" noAdjustHandles="1" noChangeArrowheads="1" noChangeShapeType="1" noTextEdit="1"/>
                </p:cNvSpPr>
                <p:nvPr/>
              </p:nvSpPr>
              <p:spPr>
                <a:xfrm>
                  <a:off x="3007975" y="3099871"/>
                  <a:ext cx="12308225" cy="5745163"/>
                </a:xfrm>
                <a:prstGeom prst="rect">
                  <a:avLst/>
                </a:prstGeom>
                <a:blipFill>
                  <a:blip r:embed="rId4"/>
                  <a:stretch>
                    <a:fillRect t="-1062" r="-2526" b="-4352"/>
                  </a:stretch>
                </a:blipFill>
              </p:spPr>
              <p:txBody>
                <a:bodyPr/>
                <a:lstStyle/>
                <a:p>
                  <a:r>
                    <a:rPr lang="en-PH">
                      <a:noFill/>
                    </a:rPr>
                    <a:t> </a:t>
                  </a:r>
                </a:p>
              </p:txBody>
            </p:sp>
          </mc:Fallback>
        </mc:AlternateContent>
        <p:sp>
          <p:nvSpPr>
            <p:cNvPr id="19" name="TextBox 19">
              <a:extLst>
                <a:ext uri="{FF2B5EF4-FFF2-40B4-BE49-F238E27FC236}">
                  <a16:creationId xmlns:a16="http://schemas.microsoft.com/office/drawing/2014/main" id="{542AC2F3-FD68-733C-ED67-BDC24E997563}"/>
                </a:ext>
              </a:extLst>
            </p:cNvPr>
            <p:cNvSpPr txBox="1"/>
            <p:nvPr/>
          </p:nvSpPr>
          <p:spPr>
            <a:xfrm>
              <a:off x="4330196" y="1325177"/>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Let’s Explore!</a:t>
              </a:r>
            </a:p>
          </p:txBody>
        </p:sp>
      </p:grpSp>
      <p:sp>
        <p:nvSpPr>
          <p:cNvPr id="21" name="Freeform 14">
            <a:extLst>
              <a:ext uri="{FF2B5EF4-FFF2-40B4-BE49-F238E27FC236}">
                <a16:creationId xmlns:a16="http://schemas.microsoft.com/office/drawing/2014/main" id="{577942C1-D767-8E7B-A799-3680A8A6DCB5}"/>
              </a:ext>
            </a:extLst>
          </p:cNvPr>
          <p:cNvSpPr/>
          <p:nvPr/>
        </p:nvSpPr>
        <p:spPr>
          <a:xfrm flipH="1">
            <a:off x="151807" y="8030113"/>
            <a:ext cx="1503430" cy="150547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grpSp>
        <p:nvGrpSpPr>
          <p:cNvPr id="26" name="Group 25">
            <a:extLst>
              <a:ext uri="{FF2B5EF4-FFF2-40B4-BE49-F238E27FC236}">
                <a16:creationId xmlns:a16="http://schemas.microsoft.com/office/drawing/2014/main" id="{CFE50733-E468-042B-7635-9FD67CB2E5DD}"/>
              </a:ext>
            </a:extLst>
          </p:cNvPr>
          <p:cNvGrpSpPr/>
          <p:nvPr/>
        </p:nvGrpSpPr>
        <p:grpSpPr>
          <a:xfrm>
            <a:off x="6652203" y="7869090"/>
            <a:ext cx="10740267" cy="1657907"/>
            <a:chOff x="6652203" y="7863526"/>
            <a:chExt cx="10740267" cy="1657907"/>
          </a:xfrm>
        </p:grpSpPr>
        <p:sp>
          <p:nvSpPr>
            <p:cNvPr id="24" name="Freeform 9">
              <a:extLst>
                <a:ext uri="{FF2B5EF4-FFF2-40B4-BE49-F238E27FC236}">
                  <a16:creationId xmlns:a16="http://schemas.microsoft.com/office/drawing/2014/main" id="{901BD274-CCCE-FB11-D1C2-134500A3F2B5}"/>
                </a:ext>
              </a:extLst>
            </p:cNvPr>
            <p:cNvSpPr/>
            <p:nvPr/>
          </p:nvSpPr>
          <p:spPr>
            <a:xfrm>
              <a:off x="6652203" y="7863526"/>
              <a:ext cx="10740267" cy="1657907"/>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25" name="TextBox 19">
              <a:extLst>
                <a:ext uri="{FF2B5EF4-FFF2-40B4-BE49-F238E27FC236}">
                  <a16:creationId xmlns:a16="http://schemas.microsoft.com/office/drawing/2014/main" id="{07844790-52F4-39DE-E636-110D47762F0B}"/>
                </a:ext>
              </a:extLst>
            </p:cNvPr>
            <p:cNvSpPr txBox="1"/>
            <p:nvPr/>
          </p:nvSpPr>
          <p:spPr>
            <a:xfrm>
              <a:off x="7279813" y="8126282"/>
              <a:ext cx="9655072" cy="1231106"/>
            </a:xfrm>
            <a:prstGeom prst="rect">
              <a:avLst/>
            </a:prstGeom>
          </p:spPr>
          <p:txBody>
            <a:bodyPr lIns="0" tIns="0" rIns="0" bIns="0" rtlCol="0" anchor="t">
              <a:spAutoFit/>
            </a:bodyPr>
            <a:lstStyle/>
            <a:p>
              <a:pPr algn="ctr"/>
              <a:r>
                <a:rPr lang="en-US" sz="4000" dirty="0">
                  <a:solidFill>
                    <a:srgbClr val="E1E1E1"/>
                  </a:solidFill>
                  <a:latin typeface="Bugaki"/>
                  <a:ea typeface="Bugaki"/>
                  <a:cs typeface="Bugaki"/>
                  <a:sym typeface="Bugaki"/>
                </a:rPr>
                <a:t>What equation represents the area of the rectangular plywood?</a:t>
              </a:r>
            </a:p>
          </p:txBody>
        </p:sp>
      </p:grpSp>
    </p:spTree>
    <p:extLst>
      <p:ext uri="{BB962C8B-B14F-4D97-AF65-F5344CB8AC3E}">
        <p14:creationId xmlns:p14="http://schemas.microsoft.com/office/powerpoint/2010/main" val="1800589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77EDBA1C-FBC0-8F72-E53F-CB751533259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4A7893C-912A-4670-A27D-8DF8E8501AD9}"/>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D3AF0E83-C74B-EBF0-C4F6-17ED5DCFA059}"/>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4934988A-BA8D-DD3F-C73D-70C2376D2FC3}"/>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11" name="Group 10">
            <a:extLst>
              <a:ext uri="{FF2B5EF4-FFF2-40B4-BE49-F238E27FC236}">
                <a16:creationId xmlns:a16="http://schemas.microsoft.com/office/drawing/2014/main" id="{0ED00743-7F3E-F8CA-6D57-CC89B52DDE47}"/>
              </a:ext>
            </a:extLst>
          </p:cNvPr>
          <p:cNvGrpSpPr/>
          <p:nvPr/>
        </p:nvGrpSpPr>
        <p:grpSpPr>
          <a:xfrm>
            <a:off x="762000" y="495300"/>
            <a:ext cx="12838139" cy="7932477"/>
            <a:chOff x="2724931" y="1177261"/>
            <a:chExt cx="12838139" cy="7932477"/>
          </a:xfrm>
        </p:grpSpPr>
        <p:grpSp>
          <p:nvGrpSpPr>
            <p:cNvPr id="5" name="Group 5">
              <a:extLst>
                <a:ext uri="{FF2B5EF4-FFF2-40B4-BE49-F238E27FC236}">
                  <a16:creationId xmlns:a16="http://schemas.microsoft.com/office/drawing/2014/main" id="{92521140-CE0A-B953-AB31-E6C7CBF2997D}"/>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00CD6B50-858B-5B61-DC70-BCA899B35521}"/>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1D865031-1D6D-53CD-F581-BB2C948C77D4}"/>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D726B6A2-FD10-A70B-B2FD-3954909345EC}"/>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66699D24-1297-229F-5C0A-A1A99D65EAA0}"/>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E60F7FCC-2B01-E886-774C-3DFDE939AB28}"/>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F07A0130-2257-2A55-8F29-74C315D69564}"/>
                    </a:ext>
                  </a:extLst>
                </p:cNvPr>
                <p:cNvSpPr txBox="1"/>
                <p:nvPr/>
              </p:nvSpPr>
              <p:spPr>
                <a:xfrm>
                  <a:off x="3007975" y="3099871"/>
                  <a:ext cx="12308225" cy="5745163"/>
                </a:xfrm>
                <a:prstGeom prst="rect">
                  <a:avLst/>
                </a:prstGeom>
              </p:spPr>
              <p:txBody>
                <a:bodyPr wrap="square" lIns="0" tIns="0" rIns="0" bIns="0" rtlCol="0" anchor="t">
                  <a:spAutoFit/>
                </a:bodyPr>
                <a:lstStyle/>
                <a:p>
                  <a:pPr marL="431799" lvl="1" algn="just">
                    <a:lnSpc>
                      <a:spcPts val="5599"/>
                    </a:lnSpc>
                  </a:pPr>
                  <a:r>
                    <a:rPr lang="en-US" sz="3999" dirty="0">
                      <a:solidFill>
                        <a:srgbClr val="1C2B2B"/>
                      </a:solidFill>
                      <a:latin typeface="Monterchi"/>
                      <a:ea typeface="Monterchi"/>
                      <a:cs typeface="Monterchi"/>
                      <a:sym typeface="Monterchi"/>
                    </a:rPr>
                    <a:t>After a typhoon caused by a power outage, Juan wants to build a solar-powered generator for his neighbors. </a:t>
                  </a:r>
                  <a:r>
                    <a:rPr lang="en-US" sz="3999" dirty="0">
                      <a:solidFill>
                        <a:srgbClr val="FF0000"/>
                      </a:solidFill>
                      <a:latin typeface="Monterchi"/>
                      <a:ea typeface="Monterchi"/>
                      <a:cs typeface="Monterchi"/>
                      <a:sym typeface="Monterchi"/>
                    </a:rPr>
                    <a:t>He has a rectangular piece of a plywood with an area of </a:t>
                  </a:r>
                  <a14:m>
                    <m:oMath xmlns:m="http://schemas.openxmlformats.org/officeDocument/2006/math">
                      <m:r>
                        <a:rPr lang="en-PH" sz="3999" b="0" i="1" smtClean="0">
                          <a:solidFill>
                            <a:srgbClr val="FF0000"/>
                          </a:solidFill>
                          <a:latin typeface="Cambria Math" panose="02040503050406030204" pitchFamily="18" charset="0"/>
                          <a:ea typeface="Monterchi"/>
                          <a:cs typeface="Monterchi"/>
                          <a:sym typeface="Monterchi"/>
                        </a:rPr>
                        <m:t>18</m:t>
                      </m:r>
                      <m:sSup>
                        <m:sSupPr>
                          <m:ctrlPr>
                            <a:rPr lang="en-PH" sz="3999" i="1" smtClean="0">
                              <a:solidFill>
                                <a:srgbClr val="FF0000"/>
                              </a:solidFill>
                              <a:latin typeface="Cambria Math" panose="02040503050406030204" pitchFamily="18" charset="0"/>
                              <a:ea typeface="Monterchi"/>
                              <a:cs typeface="Monterchi"/>
                              <a:sym typeface="Monterchi"/>
                            </a:rPr>
                          </m:ctrlPr>
                        </m:sSupPr>
                        <m:e>
                          <m:r>
                            <a:rPr lang="en-PH" sz="3999" b="0" i="1" smtClean="0">
                              <a:solidFill>
                                <a:srgbClr val="FF0000"/>
                              </a:solidFill>
                              <a:latin typeface="Cambria Math" panose="02040503050406030204" pitchFamily="18" charset="0"/>
                              <a:ea typeface="Monterchi"/>
                              <a:cs typeface="Monterchi"/>
                              <a:sym typeface="Monterchi"/>
                            </a:rPr>
                            <m:t>𝑚</m:t>
                          </m:r>
                        </m:e>
                        <m:sup>
                          <m:r>
                            <a:rPr lang="en-PH" sz="3999" b="0" i="1" smtClean="0">
                              <a:solidFill>
                                <a:srgbClr val="FF0000"/>
                              </a:solidFill>
                              <a:latin typeface="Cambria Math" panose="02040503050406030204" pitchFamily="18" charset="0"/>
                              <a:ea typeface="Monterchi"/>
                              <a:cs typeface="Monterchi"/>
                              <a:sym typeface="Monterchi"/>
                            </a:rPr>
                            <m:t>2</m:t>
                          </m:r>
                        </m:sup>
                      </m:sSup>
                      <m:r>
                        <a:rPr lang="en-PH" sz="3999" b="0" i="1" smtClean="0">
                          <a:solidFill>
                            <a:srgbClr val="1C2B2B"/>
                          </a:solidFill>
                          <a:latin typeface="Cambria Math" panose="02040503050406030204" pitchFamily="18" charset="0"/>
                          <a:ea typeface="Monterchi"/>
                          <a:cs typeface="Monterchi"/>
                          <a:sym typeface="Monterchi"/>
                        </a:rPr>
                        <m:t>.</m:t>
                      </m:r>
                    </m:oMath>
                  </a14:m>
                  <a:r>
                    <a:rPr lang="en-US" sz="3999" dirty="0">
                      <a:solidFill>
                        <a:srgbClr val="1C2B2B"/>
                      </a:solidFill>
                      <a:latin typeface="Monterchi"/>
                      <a:ea typeface="Monterchi"/>
                      <a:cs typeface="Monterchi"/>
                      <a:sym typeface="Monterchi"/>
                    </a:rPr>
                    <a:t> Its length is </a:t>
                  </a:r>
                  <a14:m>
                    <m:oMath xmlns:m="http://schemas.openxmlformats.org/officeDocument/2006/math">
                      <m:r>
                        <a:rPr lang="en-PH" sz="3999" b="0" i="1" smtClean="0">
                          <a:solidFill>
                            <a:srgbClr val="1C2B2B"/>
                          </a:solidFill>
                          <a:latin typeface="Cambria Math" panose="02040503050406030204" pitchFamily="18" charset="0"/>
                          <a:ea typeface="Monterchi"/>
                          <a:cs typeface="Monterchi"/>
                          <a:sym typeface="Monterchi"/>
                        </a:rPr>
                        <m:t>3</m:t>
                      </m:r>
                    </m:oMath>
                  </a14:m>
                  <a:r>
                    <a:rPr lang="en-US" sz="3999" dirty="0">
                      <a:solidFill>
                        <a:srgbClr val="1C2B2B"/>
                      </a:solidFill>
                      <a:latin typeface="Monterchi"/>
                      <a:ea typeface="Monterchi"/>
                      <a:cs typeface="Monterchi"/>
                      <a:sym typeface="Monterchi"/>
                    </a:rPr>
                    <a:t> meters longer than its width. Juan needs to figure out the dimension of the plywood to avoid wasting it. With a heart full of compassion and a strong desire to make a difference, he’s determined to solve this puzzle and bring back electricity to his community. </a:t>
                  </a:r>
                </a:p>
              </p:txBody>
            </p:sp>
          </mc:Choice>
          <mc:Fallback xmlns="">
            <p:sp>
              <p:nvSpPr>
                <p:cNvPr id="12" name="TextBox 12">
                  <a:extLst>
                    <a:ext uri="{FF2B5EF4-FFF2-40B4-BE49-F238E27FC236}">
                      <a16:creationId xmlns:a16="http://schemas.microsoft.com/office/drawing/2014/main" id="{F07A0130-2257-2A55-8F29-74C315D69564}"/>
                    </a:ext>
                  </a:extLst>
                </p:cNvPr>
                <p:cNvSpPr txBox="1">
                  <a:spLocks noRot="1" noChangeAspect="1" noMove="1" noResize="1" noEditPoints="1" noAdjustHandles="1" noChangeArrowheads="1" noChangeShapeType="1" noTextEdit="1"/>
                </p:cNvSpPr>
                <p:nvPr/>
              </p:nvSpPr>
              <p:spPr>
                <a:xfrm>
                  <a:off x="3007975" y="3099871"/>
                  <a:ext cx="12308225" cy="5745163"/>
                </a:xfrm>
                <a:prstGeom prst="rect">
                  <a:avLst/>
                </a:prstGeom>
                <a:blipFill>
                  <a:blip r:embed="rId4"/>
                  <a:stretch>
                    <a:fillRect t="-1062" r="-2526" b="-4352"/>
                  </a:stretch>
                </a:blipFill>
              </p:spPr>
              <p:txBody>
                <a:bodyPr/>
                <a:lstStyle/>
                <a:p>
                  <a:r>
                    <a:rPr lang="en-PH">
                      <a:noFill/>
                    </a:rPr>
                    <a:t> </a:t>
                  </a:r>
                </a:p>
              </p:txBody>
            </p:sp>
          </mc:Fallback>
        </mc:AlternateContent>
        <p:sp>
          <p:nvSpPr>
            <p:cNvPr id="19" name="TextBox 19">
              <a:extLst>
                <a:ext uri="{FF2B5EF4-FFF2-40B4-BE49-F238E27FC236}">
                  <a16:creationId xmlns:a16="http://schemas.microsoft.com/office/drawing/2014/main" id="{1687546D-B9CC-7198-FECD-D3205262DF8C}"/>
                </a:ext>
              </a:extLst>
            </p:cNvPr>
            <p:cNvSpPr txBox="1"/>
            <p:nvPr/>
          </p:nvSpPr>
          <p:spPr>
            <a:xfrm>
              <a:off x="4330196" y="1325177"/>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Let’s Explore!</a:t>
              </a:r>
            </a:p>
          </p:txBody>
        </p:sp>
      </p:grpSp>
      <p:sp>
        <p:nvSpPr>
          <p:cNvPr id="21" name="Freeform 14">
            <a:extLst>
              <a:ext uri="{FF2B5EF4-FFF2-40B4-BE49-F238E27FC236}">
                <a16:creationId xmlns:a16="http://schemas.microsoft.com/office/drawing/2014/main" id="{CD35C984-E93A-D9E9-E4F0-CB7E06BA7134}"/>
              </a:ext>
            </a:extLst>
          </p:cNvPr>
          <p:cNvSpPr/>
          <p:nvPr/>
        </p:nvSpPr>
        <p:spPr>
          <a:xfrm flipH="1">
            <a:off x="151807" y="8030113"/>
            <a:ext cx="1503430" cy="150547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grpSp>
        <p:nvGrpSpPr>
          <p:cNvPr id="13" name="Group 12">
            <a:extLst>
              <a:ext uri="{FF2B5EF4-FFF2-40B4-BE49-F238E27FC236}">
                <a16:creationId xmlns:a16="http://schemas.microsoft.com/office/drawing/2014/main" id="{23A42143-D77A-5A2B-AD56-40E2643ECA84}"/>
              </a:ext>
            </a:extLst>
          </p:cNvPr>
          <p:cNvGrpSpPr/>
          <p:nvPr/>
        </p:nvGrpSpPr>
        <p:grpSpPr>
          <a:xfrm>
            <a:off x="6652203" y="7863526"/>
            <a:ext cx="10740267" cy="1657907"/>
            <a:chOff x="6652203" y="7863526"/>
            <a:chExt cx="10740267" cy="1657907"/>
          </a:xfrm>
        </p:grpSpPr>
        <p:sp>
          <p:nvSpPr>
            <p:cNvPr id="24" name="Freeform 9">
              <a:extLst>
                <a:ext uri="{FF2B5EF4-FFF2-40B4-BE49-F238E27FC236}">
                  <a16:creationId xmlns:a16="http://schemas.microsoft.com/office/drawing/2014/main" id="{A0654A5E-DB75-5019-FD6B-60E6C76515DD}"/>
                </a:ext>
              </a:extLst>
            </p:cNvPr>
            <p:cNvSpPr/>
            <p:nvPr/>
          </p:nvSpPr>
          <p:spPr>
            <a:xfrm>
              <a:off x="6652203" y="7863526"/>
              <a:ext cx="10740267" cy="1657907"/>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25" name="TextBox 19">
              <a:extLst>
                <a:ext uri="{FF2B5EF4-FFF2-40B4-BE49-F238E27FC236}">
                  <a16:creationId xmlns:a16="http://schemas.microsoft.com/office/drawing/2014/main" id="{CCCE121D-C81D-550A-4241-B51B113104C3}"/>
                </a:ext>
              </a:extLst>
            </p:cNvPr>
            <p:cNvSpPr txBox="1"/>
            <p:nvPr/>
          </p:nvSpPr>
          <p:spPr>
            <a:xfrm>
              <a:off x="7279813" y="8126282"/>
              <a:ext cx="9655072" cy="1231106"/>
            </a:xfrm>
            <a:prstGeom prst="rect">
              <a:avLst/>
            </a:prstGeom>
          </p:spPr>
          <p:txBody>
            <a:bodyPr lIns="0" tIns="0" rIns="0" bIns="0" rtlCol="0" anchor="t">
              <a:spAutoFit/>
            </a:bodyPr>
            <a:lstStyle/>
            <a:p>
              <a:pPr algn="ctr"/>
              <a:r>
                <a:rPr lang="en-US" sz="4000" dirty="0">
                  <a:solidFill>
                    <a:srgbClr val="E1E1E1"/>
                  </a:solidFill>
                  <a:latin typeface="Bugaki"/>
                  <a:ea typeface="Bugaki"/>
                  <a:cs typeface="Bugaki"/>
                  <a:sym typeface="Bugaki"/>
                </a:rPr>
                <a:t>What equation represents the area of the rectangular plywood?</a:t>
              </a:r>
            </a:p>
          </p:txBody>
        </p:sp>
      </p:grpSp>
    </p:spTree>
    <p:extLst>
      <p:ext uri="{BB962C8B-B14F-4D97-AF65-F5344CB8AC3E}">
        <p14:creationId xmlns:p14="http://schemas.microsoft.com/office/powerpoint/2010/main" val="180619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624EA60D-A12C-E78F-82F7-08C86DE32A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64CB2C2-3140-A3D8-2BB1-774606CB4F13}"/>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ED6C7A37-BB01-39BC-3BB9-7835D0D16DB5}"/>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A1D9AF3B-9DDC-8836-EF59-87FC360FB071}"/>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11" name="Group 10">
            <a:extLst>
              <a:ext uri="{FF2B5EF4-FFF2-40B4-BE49-F238E27FC236}">
                <a16:creationId xmlns:a16="http://schemas.microsoft.com/office/drawing/2014/main" id="{C95613B7-37AF-1F0D-1ED4-F79ADB74C66E}"/>
              </a:ext>
            </a:extLst>
          </p:cNvPr>
          <p:cNvGrpSpPr/>
          <p:nvPr/>
        </p:nvGrpSpPr>
        <p:grpSpPr>
          <a:xfrm>
            <a:off x="762000" y="495300"/>
            <a:ext cx="12838139" cy="7932477"/>
            <a:chOff x="2724931" y="1177261"/>
            <a:chExt cx="12838139" cy="7932477"/>
          </a:xfrm>
        </p:grpSpPr>
        <p:grpSp>
          <p:nvGrpSpPr>
            <p:cNvPr id="5" name="Group 5">
              <a:extLst>
                <a:ext uri="{FF2B5EF4-FFF2-40B4-BE49-F238E27FC236}">
                  <a16:creationId xmlns:a16="http://schemas.microsoft.com/office/drawing/2014/main" id="{03744C95-88F5-191A-5C62-B3AE3D7A7CAF}"/>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FAD4BC86-CA17-FCBC-18A1-DC60D2F5B027}"/>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F8480E7A-21C6-94BE-E384-B59E9F1221B3}"/>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2928570F-2E62-8239-FE66-0C9CEFB37DDA}"/>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CA0BB9DE-5192-642F-64D0-AE7E0F7FCBBB}"/>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BED103F3-28E1-950C-BFDE-50E100C18E6B}"/>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09935A54-12BA-23AF-0659-F763E985BC68}"/>
                    </a:ext>
                  </a:extLst>
                </p:cNvPr>
                <p:cNvSpPr txBox="1"/>
                <p:nvPr/>
              </p:nvSpPr>
              <p:spPr>
                <a:xfrm>
                  <a:off x="3007975" y="3099871"/>
                  <a:ext cx="12308225" cy="5745163"/>
                </a:xfrm>
                <a:prstGeom prst="rect">
                  <a:avLst/>
                </a:prstGeom>
              </p:spPr>
              <p:txBody>
                <a:bodyPr wrap="square" lIns="0" tIns="0" rIns="0" bIns="0" rtlCol="0" anchor="t">
                  <a:spAutoFit/>
                </a:bodyPr>
                <a:lstStyle/>
                <a:p>
                  <a:pPr marL="431799" lvl="1" algn="just">
                    <a:lnSpc>
                      <a:spcPts val="5599"/>
                    </a:lnSpc>
                  </a:pPr>
                  <a:r>
                    <a:rPr lang="en-US" sz="3999" dirty="0">
                      <a:solidFill>
                        <a:srgbClr val="1C2B2B"/>
                      </a:solidFill>
                      <a:latin typeface="Monterchi"/>
                      <a:ea typeface="Monterchi"/>
                      <a:cs typeface="Monterchi"/>
                      <a:sym typeface="Monterchi"/>
                    </a:rPr>
                    <a:t>After a typhoon caused by a power outage, Juan wants to build a solar-powered generator for his neighbors. </a:t>
                  </a:r>
                  <a:r>
                    <a:rPr lang="en-US" sz="3999" dirty="0">
                      <a:solidFill>
                        <a:srgbClr val="FF0000"/>
                      </a:solidFill>
                      <a:latin typeface="Monterchi"/>
                      <a:ea typeface="Monterchi"/>
                      <a:cs typeface="Monterchi"/>
                      <a:sym typeface="Monterchi"/>
                    </a:rPr>
                    <a:t>He has a rectangular piece of a plywood with an area of </a:t>
                  </a:r>
                  <a14:m>
                    <m:oMath xmlns:m="http://schemas.openxmlformats.org/officeDocument/2006/math">
                      <m:r>
                        <a:rPr lang="en-PH" sz="3999" b="0" i="1" smtClean="0">
                          <a:solidFill>
                            <a:srgbClr val="FF0000"/>
                          </a:solidFill>
                          <a:latin typeface="Cambria Math" panose="02040503050406030204" pitchFamily="18" charset="0"/>
                          <a:ea typeface="Monterchi"/>
                          <a:cs typeface="Monterchi"/>
                          <a:sym typeface="Monterchi"/>
                        </a:rPr>
                        <m:t>18</m:t>
                      </m:r>
                      <m:sSup>
                        <m:sSupPr>
                          <m:ctrlPr>
                            <a:rPr lang="en-PH" sz="3999" i="1" smtClean="0">
                              <a:solidFill>
                                <a:srgbClr val="FF0000"/>
                              </a:solidFill>
                              <a:latin typeface="Cambria Math" panose="02040503050406030204" pitchFamily="18" charset="0"/>
                              <a:ea typeface="Monterchi"/>
                              <a:cs typeface="Monterchi"/>
                              <a:sym typeface="Monterchi"/>
                            </a:rPr>
                          </m:ctrlPr>
                        </m:sSupPr>
                        <m:e>
                          <m:r>
                            <a:rPr lang="en-PH" sz="3999" b="0" i="1" smtClean="0">
                              <a:solidFill>
                                <a:srgbClr val="FF0000"/>
                              </a:solidFill>
                              <a:latin typeface="Cambria Math" panose="02040503050406030204" pitchFamily="18" charset="0"/>
                              <a:ea typeface="Monterchi"/>
                              <a:cs typeface="Monterchi"/>
                              <a:sym typeface="Monterchi"/>
                            </a:rPr>
                            <m:t>𝑚</m:t>
                          </m:r>
                        </m:e>
                        <m:sup>
                          <m:r>
                            <a:rPr lang="en-PH" sz="3999" b="0" i="1" smtClean="0">
                              <a:solidFill>
                                <a:srgbClr val="FF0000"/>
                              </a:solidFill>
                              <a:latin typeface="Cambria Math" panose="02040503050406030204" pitchFamily="18" charset="0"/>
                              <a:ea typeface="Monterchi"/>
                              <a:cs typeface="Monterchi"/>
                              <a:sym typeface="Monterchi"/>
                            </a:rPr>
                            <m:t>2</m:t>
                          </m:r>
                        </m:sup>
                      </m:sSup>
                      <m:r>
                        <a:rPr lang="en-PH" sz="3999" b="0" i="1" smtClean="0">
                          <a:solidFill>
                            <a:srgbClr val="1C2B2B"/>
                          </a:solidFill>
                          <a:latin typeface="Cambria Math" panose="02040503050406030204" pitchFamily="18" charset="0"/>
                          <a:ea typeface="Monterchi"/>
                          <a:cs typeface="Monterchi"/>
                          <a:sym typeface="Monterchi"/>
                        </a:rPr>
                        <m:t>.</m:t>
                      </m:r>
                    </m:oMath>
                  </a14:m>
                  <a:r>
                    <a:rPr lang="en-US" sz="3999" dirty="0">
                      <a:solidFill>
                        <a:srgbClr val="1C2B2B"/>
                      </a:solidFill>
                      <a:latin typeface="Monterchi"/>
                      <a:ea typeface="Monterchi"/>
                      <a:cs typeface="Monterchi"/>
                      <a:sym typeface="Monterchi"/>
                    </a:rPr>
                    <a:t> </a:t>
                  </a:r>
                  <a:r>
                    <a:rPr lang="en-US" sz="3999" dirty="0">
                      <a:solidFill>
                        <a:srgbClr val="0070C0"/>
                      </a:solidFill>
                      <a:latin typeface="Monterchi"/>
                      <a:ea typeface="Monterchi"/>
                      <a:cs typeface="Monterchi"/>
                      <a:sym typeface="Monterchi"/>
                    </a:rPr>
                    <a:t>Its length is </a:t>
                  </a:r>
                  <a14:m>
                    <m:oMath xmlns:m="http://schemas.openxmlformats.org/officeDocument/2006/math">
                      <m:r>
                        <a:rPr lang="en-PH" sz="3999" b="0" i="1" smtClean="0">
                          <a:solidFill>
                            <a:srgbClr val="0070C0"/>
                          </a:solidFill>
                          <a:latin typeface="Cambria Math" panose="02040503050406030204" pitchFamily="18" charset="0"/>
                          <a:ea typeface="Monterchi"/>
                          <a:cs typeface="Monterchi"/>
                          <a:sym typeface="Monterchi"/>
                        </a:rPr>
                        <m:t>3</m:t>
                      </m:r>
                    </m:oMath>
                  </a14:m>
                  <a:r>
                    <a:rPr lang="en-US" sz="3999" dirty="0">
                      <a:solidFill>
                        <a:srgbClr val="0070C0"/>
                      </a:solidFill>
                      <a:latin typeface="Monterchi"/>
                      <a:ea typeface="Monterchi"/>
                      <a:cs typeface="Monterchi"/>
                      <a:sym typeface="Monterchi"/>
                    </a:rPr>
                    <a:t> meters longer than its width.</a:t>
                  </a:r>
                  <a:r>
                    <a:rPr lang="en-US" sz="3999" dirty="0">
                      <a:solidFill>
                        <a:srgbClr val="1C2B2B"/>
                      </a:solidFill>
                      <a:latin typeface="Monterchi"/>
                      <a:ea typeface="Monterchi"/>
                      <a:cs typeface="Monterchi"/>
                      <a:sym typeface="Monterchi"/>
                    </a:rPr>
                    <a:t> Juan needs to figure out the dimension of the plywood to avoid wasting it. With a heart full of compassion and a strong desire to make a difference, he’s determined to solve this puzzle and bring back electricity to his community. </a:t>
                  </a:r>
                </a:p>
              </p:txBody>
            </p:sp>
          </mc:Choice>
          <mc:Fallback xmlns="">
            <p:sp>
              <p:nvSpPr>
                <p:cNvPr id="12" name="TextBox 12">
                  <a:extLst>
                    <a:ext uri="{FF2B5EF4-FFF2-40B4-BE49-F238E27FC236}">
                      <a16:creationId xmlns:a16="http://schemas.microsoft.com/office/drawing/2014/main" id="{09935A54-12BA-23AF-0659-F763E985BC68}"/>
                    </a:ext>
                  </a:extLst>
                </p:cNvPr>
                <p:cNvSpPr txBox="1">
                  <a:spLocks noRot="1" noChangeAspect="1" noMove="1" noResize="1" noEditPoints="1" noAdjustHandles="1" noChangeArrowheads="1" noChangeShapeType="1" noTextEdit="1"/>
                </p:cNvSpPr>
                <p:nvPr/>
              </p:nvSpPr>
              <p:spPr>
                <a:xfrm>
                  <a:off x="3007975" y="3099871"/>
                  <a:ext cx="12308225" cy="5745163"/>
                </a:xfrm>
                <a:prstGeom prst="rect">
                  <a:avLst/>
                </a:prstGeom>
                <a:blipFill>
                  <a:blip r:embed="rId4"/>
                  <a:stretch>
                    <a:fillRect t="-1062" r="-2526" b="-4352"/>
                  </a:stretch>
                </a:blipFill>
              </p:spPr>
              <p:txBody>
                <a:bodyPr/>
                <a:lstStyle/>
                <a:p>
                  <a:r>
                    <a:rPr lang="en-PH">
                      <a:noFill/>
                    </a:rPr>
                    <a:t> </a:t>
                  </a:r>
                </a:p>
              </p:txBody>
            </p:sp>
          </mc:Fallback>
        </mc:AlternateContent>
        <p:sp>
          <p:nvSpPr>
            <p:cNvPr id="19" name="TextBox 19">
              <a:extLst>
                <a:ext uri="{FF2B5EF4-FFF2-40B4-BE49-F238E27FC236}">
                  <a16:creationId xmlns:a16="http://schemas.microsoft.com/office/drawing/2014/main" id="{340F6D54-DC95-6A94-7409-1F69E61BA522}"/>
                </a:ext>
              </a:extLst>
            </p:cNvPr>
            <p:cNvSpPr txBox="1"/>
            <p:nvPr/>
          </p:nvSpPr>
          <p:spPr>
            <a:xfrm>
              <a:off x="4330196" y="1325177"/>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Let’s Explore!</a:t>
              </a:r>
            </a:p>
          </p:txBody>
        </p:sp>
      </p:grpSp>
      <p:sp>
        <p:nvSpPr>
          <p:cNvPr id="21" name="Freeform 14">
            <a:extLst>
              <a:ext uri="{FF2B5EF4-FFF2-40B4-BE49-F238E27FC236}">
                <a16:creationId xmlns:a16="http://schemas.microsoft.com/office/drawing/2014/main" id="{2E4AA77E-5E9F-E26B-92B4-74096D000D26}"/>
              </a:ext>
            </a:extLst>
          </p:cNvPr>
          <p:cNvSpPr/>
          <p:nvPr/>
        </p:nvSpPr>
        <p:spPr>
          <a:xfrm flipH="1">
            <a:off x="151807" y="8030113"/>
            <a:ext cx="1503430" cy="150547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grpSp>
        <p:nvGrpSpPr>
          <p:cNvPr id="13" name="Group 12">
            <a:extLst>
              <a:ext uri="{FF2B5EF4-FFF2-40B4-BE49-F238E27FC236}">
                <a16:creationId xmlns:a16="http://schemas.microsoft.com/office/drawing/2014/main" id="{F1A67F68-87FA-2938-D552-6E237A0715E8}"/>
              </a:ext>
            </a:extLst>
          </p:cNvPr>
          <p:cNvGrpSpPr/>
          <p:nvPr/>
        </p:nvGrpSpPr>
        <p:grpSpPr>
          <a:xfrm>
            <a:off x="6652203" y="7863526"/>
            <a:ext cx="10740267" cy="1657907"/>
            <a:chOff x="6652203" y="7863526"/>
            <a:chExt cx="10740267" cy="1657907"/>
          </a:xfrm>
        </p:grpSpPr>
        <p:sp>
          <p:nvSpPr>
            <p:cNvPr id="24" name="Freeform 9">
              <a:extLst>
                <a:ext uri="{FF2B5EF4-FFF2-40B4-BE49-F238E27FC236}">
                  <a16:creationId xmlns:a16="http://schemas.microsoft.com/office/drawing/2014/main" id="{22E58021-861D-7F0A-4153-ED20006C045E}"/>
                </a:ext>
              </a:extLst>
            </p:cNvPr>
            <p:cNvSpPr/>
            <p:nvPr/>
          </p:nvSpPr>
          <p:spPr>
            <a:xfrm>
              <a:off x="6652203" y="7863526"/>
              <a:ext cx="10740267" cy="1657907"/>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25" name="TextBox 19">
              <a:extLst>
                <a:ext uri="{FF2B5EF4-FFF2-40B4-BE49-F238E27FC236}">
                  <a16:creationId xmlns:a16="http://schemas.microsoft.com/office/drawing/2014/main" id="{0D4F44EA-A2DD-8414-5F60-3A72E5A2837C}"/>
                </a:ext>
              </a:extLst>
            </p:cNvPr>
            <p:cNvSpPr txBox="1"/>
            <p:nvPr/>
          </p:nvSpPr>
          <p:spPr>
            <a:xfrm>
              <a:off x="7279813" y="8126282"/>
              <a:ext cx="9655072" cy="1231106"/>
            </a:xfrm>
            <a:prstGeom prst="rect">
              <a:avLst/>
            </a:prstGeom>
          </p:spPr>
          <p:txBody>
            <a:bodyPr lIns="0" tIns="0" rIns="0" bIns="0" rtlCol="0" anchor="t">
              <a:spAutoFit/>
            </a:bodyPr>
            <a:lstStyle/>
            <a:p>
              <a:pPr algn="ctr"/>
              <a:r>
                <a:rPr lang="en-US" sz="4000" dirty="0">
                  <a:solidFill>
                    <a:srgbClr val="E1E1E1"/>
                  </a:solidFill>
                  <a:latin typeface="Bugaki"/>
                  <a:ea typeface="Bugaki"/>
                  <a:cs typeface="Bugaki"/>
                  <a:sym typeface="Bugaki"/>
                </a:rPr>
                <a:t>What equation represents the area of the rectangular plywood?</a:t>
              </a:r>
            </a:p>
          </p:txBody>
        </p:sp>
      </p:grpSp>
    </p:spTree>
    <p:extLst>
      <p:ext uri="{BB962C8B-B14F-4D97-AF65-F5344CB8AC3E}">
        <p14:creationId xmlns:p14="http://schemas.microsoft.com/office/powerpoint/2010/main" val="3073585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6754E-1CCF-428D-480A-943ADAE1C9F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3A3245-0EB8-163F-20CF-86B4DF3E34CB}"/>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9BA7FFF5-5FB2-5A93-2BAB-9AA9347E3628}"/>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CEA0C256-8A5D-5FC3-A6A9-021FF2E9575B}"/>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200B9B81-2276-B3FD-A68F-8F0B9DD72156}"/>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94AEF0ED-5CB6-22D4-5386-FFFD68981949}"/>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6FC867F6-84DC-588F-DE7D-85ECF80BAC5E}"/>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83E3EF84-FC5E-FA9E-5FD5-8D51E149761C}"/>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08A691CE-3F68-A686-AA6A-4083B8CE44D7}"/>
                  </a:ext>
                </a:extLst>
              </p:cNvPr>
              <p:cNvSpPr txBox="1"/>
              <p:nvPr/>
            </p:nvSpPr>
            <p:spPr>
              <a:xfrm>
                <a:off x="2057400" y="3022599"/>
                <a:ext cx="14517412" cy="2308324"/>
              </a:xfrm>
              <a:prstGeom prst="rect">
                <a:avLst/>
              </a:prstGeom>
            </p:spPr>
            <p:txBody>
              <a:bodyPr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5000" b="1" i="1" smtClean="0">
                          <a:solidFill>
                            <a:srgbClr val="223939"/>
                          </a:solidFill>
                          <a:latin typeface="Cambria Math" panose="02040503050406030204" pitchFamily="18" charset="0"/>
                          <a:ea typeface="Borsok"/>
                          <a:cs typeface="Borsok"/>
                          <a:sym typeface="Borsok"/>
                        </a:rPr>
                        <m:t>𝒙</m:t>
                      </m:r>
                      <m:d>
                        <m:dPr>
                          <m:ctrlPr>
                            <a:rPr lang="en-PH" sz="15000" b="1" i="1" smtClean="0">
                              <a:solidFill>
                                <a:srgbClr val="223939"/>
                              </a:solidFill>
                              <a:latin typeface="Cambria Math" panose="02040503050406030204" pitchFamily="18" charset="0"/>
                              <a:ea typeface="Borsok"/>
                              <a:cs typeface="Borsok"/>
                              <a:sym typeface="Borsok"/>
                            </a:rPr>
                          </m:ctrlPr>
                        </m:dPr>
                        <m:e>
                          <m:r>
                            <a:rPr lang="en-PH" sz="15000" b="1" i="1" smtClean="0">
                              <a:solidFill>
                                <a:srgbClr val="223939"/>
                              </a:solidFill>
                              <a:latin typeface="Cambria Math" panose="02040503050406030204" pitchFamily="18" charset="0"/>
                              <a:ea typeface="Borsok"/>
                              <a:cs typeface="Borsok"/>
                              <a:sym typeface="Borsok"/>
                            </a:rPr>
                            <m:t>𝒙</m:t>
                          </m:r>
                          <m:r>
                            <a:rPr lang="en-PH" sz="15000" b="1" i="1" smtClean="0">
                              <a:solidFill>
                                <a:srgbClr val="223939"/>
                              </a:solidFill>
                              <a:latin typeface="Cambria Math" panose="02040503050406030204" pitchFamily="18" charset="0"/>
                              <a:ea typeface="Borsok"/>
                              <a:cs typeface="Borsok"/>
                              <a:sym typeface="Borsok"/>
                            </a:rPr>
                            <m:t>+</m:t>
                          </m:r>
                          <m:r>
                            <a:rPr lang="en-PH" sz="15000" b="1" i="1" smtClean="0">
                              <a:solidFill>
                                <a:srgbClr val="223939"/>
                              </a:solidFill>
                              <a:latin typeface="Cambria Math" panose="02040503050406030204" pitchFamily="18" charset="0"/>
                              <a:ea typeface="Borsok"/>
                              <a:cs typeface="Borsok"/>
                              <a:sym typeface="Borsok"/>
                            </a:rPr>
                            <m:t>𝟑</m:t>
                          </m:r>
                        </m:e>
                      </m:d>
                      <m:r>
                        <a:rPr lang="en-PH" sz="15000" b="1" i="1" smtClean="0">
                          <a:solidFill>
                            <a:srgbClr val="223939"/>
                          </a:solidFill>
                          <a:latin typeface="Cambria Math" panose="02040503050406030204" pitchFamily="18" charset="0"/>
                          <a:ea typeface="Borsok"/>
                          <a:cs typeface="Borsok"/>
                          <a:sym typeface="Borsok"/>
                        </a:rPr>
                        <m:t>=</m:t>
                      </m:r>
                      <m:r>
                        <a:rPr lang="en-PH" sz="15000" b="1" i="1" smtClean="0">
                          <a:solidFill>
                            <a:srgbClr val="223939"/>
                          </a:solidFill>
                          <a:latin typeface="Cambria Math" panose="02040503050406030204" pitchFamily="18" charset="0"/>
                          <a:ea typeface="Borsok"/>
                          <a:cs typeface="Borsok"/>
                          <a:sym typeface="Borsok"/>
                        </a:rPr>
                        <m:t>𝟏𝟖</m:t>
                      </m:r>
                    </m:oMath>
                  </m:oMathPara>
                </a14:m>
                <a:endParaRPr lang="en-US" sz="15000" b="1" dirty="0">
                  <a:solidFill>
                    <a:srgbClr val="223939"/>
                  </a:solidFill>
                  <a:latin typeface="Borsok"/>
                  <a:ea typeface="Borsok"/>
                  <a:cs typeface="Borsok"/>
                  <a:sym typeface="Borsok"/>
                </a:endParaRPr>
              </a:p>
            </p:txBody>
          </p:sp>
        </mc:Choice>
        <mc:Fallback xmlns="">
          <p:sp>
            <p:nvSpPr>
              <p:cNvPr id="12" name="TextBox 12">
                <a:extLst>
                  <a:ext uri="{FF2B5EF4-FFF2-40B4-BE49-F238E27FC236}">
                    <a16:creationId xmlns:a16="http://schemas.microsoft.com/office/drawing/2014/main" id="{08A691CE-3F68-A686-AA6A-4083B8CE44D7}"/>
                  </a:ext>
                </a:extLst>
              </p:cNvPr>
              <p:cNvSpPr txBox="1">
                <a:spLocks noRot="1" noChangeAspect="1" noMove="1" noResize="1" noEditPoints="1" noAdjustHandles="1" noChangeArrowheads="1" noChangeShapeType="1" noTextEdit="1"/>
              </p:cNvSpPr>
              <p:nvPr/>
            </p:nvSpPr>
            <p:spPr>
              <a:xfrm>
                <a:off x="2057400" y="3022599"/>
                <a:ext cx="14517412" cy="2308324"/>
              </a:xfrm>
              <a:prstGeom prst="rect">
                <a:avLst/>
              </a:prstGeom>
              <a:blipFill>
                <a:blip r:embed="rId6"/>
                <a:stretch>
                  <a:fillRect/>
                </a:stretch>
              </a:blipFill>
            </p:spPr>
            <p:txBody>
              <a:bodyPr/>
              <a:lstStyle/>
              <a:p>
                <a:r>
                  <a:rPr lang="en-PH">
                    <a:noFill/>
                  </a:rPr>
                  <a:t> </a:t>
                </a:r>
              </a:p>
            </p:txBody>
          </p:sp>
        </mc:Fallback>
      </mc:AlternateContent>
      <p:sp>
        <p:nvSpPr>
          <p:cNvPr id="14" name="Freeform 14">
            <a:extLst>
              <a:ext uri="{FF2B5EF4-FFF2-40B4-BE49-F238E27FC236}">
                <a16:creationId xmlns:a16="http://schemas.microsoft.com/office/drawing/2014/main" id="{5983437F-D60A-538A-D072-85E29985520C}"/>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7"/>
            <a:stretch>
              <a:fillRect/>
            </a:stretch>
          </a:blipFill>
        </p:spPr>
        <p:txBody>
          <a:bodyPr/>
          <a:lstStyle/>
          <a:p>
            <a:endParaRPr lang="en-PH" dirty="0"/>
          </a:p>
        </p:txBody>
      </p:sp>
    </p:spTree>
    <p:extLst>
      <p:ext uri="{BB962C8B-B14F-4D97-AF65-F5344CB8AC3E}">
        <p14:creationId xmlns:p14="http://schemas.microsoft.com/office/powerpoint/2010/main" val="3405843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822E4-C630-3738-0287-0DC5635571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7455C68-068C-A89B-5212-7316BB1EA89C}"/>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4AEECDDC-A21E-E5D3-FE45-FD36306935A5}"/>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4E5FEB05-ABFC-AEF3-EA61-5EBD455FB127}"/>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893ED86B-B3D1-8923-1874-14F2E0D6746C}"/>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6C24CAA6-E865-9AFB-D6C2-F2D8E7421686}"/>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3C3DC104-E02C-2DE9-D732-05D4EE0FB472}"/>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11CA1C62-52D3-8E19-A90E-2F975082923D}"/>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1FB7DE66-8C08-9A12-18CD-209F6E062EB5}"/>
                  </a:ext>
                </a:extLst>
              </p:cNvPr>
              <p:cNvSpPr txBox="1"/>
              <p:nvPr/>
            </p:nvSpPr>
            <p:spPr>
              <a:xfrm>
                <a:off x="2057400" y="1816780"/>
                <a:ext cx="14517412" cy="1846659"/>
              </a:xfrm>
              <a:prstGeom prst="rect">
                <a:avLst/>
              </a:prstGeom>
            </p:spPr>
            <p:txBody>
              <a:bodyPr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𝒙</m:t>
                      </m:r>
                      <m:d>
                        <m:dPr>
                          <m:ctrlPr>
                            <a:rPr lang="en-PH" sz="12000" b="1" i="1" smtClean="0">
                              <a:solidFill>
                                <a:srgbClr val="223939"/>
                              </a:solidFill>
                              <a:latin typeface="Cambria Math" panose="02040503050406030204" pitchFamily="18" charset="0"/>
                              <a:ea typeface="Borsok"/>
                              <a:cs typeface="Borsok"/>
                              <a:sym typeface="Borsok"/>
                            </a:rPr>
                          </m:ctrlPr>
                        </m:dPr>
                        <m:e>
                          <m:r>
                            <a:rPr lang="en-PH" sz="12000" b="1" i="1" smtClean="0">
                              <a:solidFill>
                                <a:srgbClr val="223939"/>
                              </a:solidFill>
                              <a:latin typeface="Cambria Math" panose="02040503050406030204" pitchFamily="18" charset="0"/>
                              <a:ea typeface="Borsok"/>
                              <a:cs typeface="Borsok"/>
                              <a:sym typeface="Borsok"/>
                            </a:rPr>
                            <m:t>𝒙</m:t>
                          </m:r>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𝟑</m:t>
                          </m:r>
                        </m:e>
                      </m:d>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𝟏𝟖</m:t>
                      </m:r>
                    </m:oMath>
                  </m:oMathPara>
                </a14:m>
                <a:endParaRPr lang="en-US" sz="12000" b="1" dirty="0">
                  <a:solidFill>
                    <a:srgbClr val="223939"/>
                  </a:solidFill>
                  <a:latin typeface="Borsok"/>
                  <a:ea typeface="Borsok"/>
                  <a:cs typeface="Borsok"/>
                  <a:sym typeface="Borsok"/>
                </a:endParaRPr>
              </a:p>
            </p:txBody>
          </p:sp>
        </mc:Choice>
        <mc:Fallback xmlns="">
          <p:sp>
            <p:nvSpPr>
              <p:cNvPr id="12" name="TextBox 12">
                <a:extLst>
                  <a:ext uri="{FF2B5EF4-FFF2-40B4-BE49-F238E27FC236}">
                    <a16:creationId xmlns:a16="http://schemas.microsoft.com/office/drawing/2014/main" id="{1FB7DE66-8C08-9A12-18CD-209F6E062EB5}"/>
                  </a:ext>
                </a:extLst>
              </p:cNvPr>
              <p:cNvSpPr txBox="1">
                <a:spLocks noRot="1" noChangeAspect="1" noMove="1" noResize="1" noEditPoints="1" noAdjustHandles="1" noChangeArrowheads="1" noChangeShapeType="1" noTextEdit="1"/>
              </p:cNvSpPr>
              <p:nvPr/>
            </p:nvSpPr>
            <p:spPr>
              <a:xfrm>
                <a:off x="2057400" y="1816780"/>
                <a:ext cx="14517412" cy="1846659"/>
              </a:xfrm>
              <a:prstGeom prst="rect">
                <a:avLst/>
              </a:prstGeom>
              <a:blipFill>
                <a:blip r:embed="rId6"/>
                <a:stretch>
                  <a:fillRect/>
                </a:stretch>
              </a:blipFill>
            </p:spPr>
            <p:txBody>
              <a:bodyPr/>
              <a:lstStyle/>
              <a:p>
                <a:r>
                  <a:rPr lang="en-PH">
                    <a:noFill/>
                  </a:rPr>
                  <a:t> </a:t>
                </a:r>
              </a:p>
            </p:txBody>
          </p:sp>
        </mc:Fallback>
      </mc:AlternateContent>
      <p:sp>
        <p:nvSpPr>
          <p:cNvPr id="14" name="Freeform 14">
            <a:extLst>
              <a:ext uri="{FF2B5EF4-FFF2-40B4-BE49-F238E27FC236}">
                <a16:creationId xmlns:a16="http://schemas.microsoft.com/office/drawing/2014/main" id="{F8B98375-8C9A-F418-F22D-59792D279483}"/>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7"/>
            <a:stretch>
              <a:fillRect/>
            </a:stretch>
          </a:blipFill>
        </p:spPr>
        <p:txBody>
          <a:bodyPr/>
          <a:lstStyle/>
          <a:p>
            <a:endParaRPr lang="en-PH" dirty="0"/>
          </a:p>
        </p:txBody>
      </p:sp>
      <p:sp>
        <p:nvSpPr>
          <p:cNvPr id="8" name="Arrow: Curved Down 7">
            <a:extLst>
              <a:ext uri="{FF2B5EF4-FFF2-40B4-BE49-F238E27FC236}">
                <a16:creationId xmlns:a16="http://schemas.microsoft.com/office/drawing/2014/main" id="{46E78D78-CFC4-2929-20FE-C336A72FEA3D}"/>
              </a:ext>
            </a:extLst>
          </p:cNvPr>
          <p:cNvSpPr/>
          <p:nvPr/>
        </p:nvSpPr>
        <p:spPr>
          <a:xfrm>
            <a:off x="4724400" y="1555795"/>
            <a:ext cx="1600200" cy="762000"/>
          </a:xfrm>
          <a:prstGeom prst="curved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0" name="Arrow: Curved Down 9">
            <a:extLst>
              <a:ext uri="{FF2B5EF4-FFF2-40B4-BE49-F238E27FC236}">
                <a16:creationId xmlns:a16="http://schemas.microsoft.com/office/drawing/2014/main" id="{EBC6C4BD-8DAA-7BD6-F7FB-70C98B8167FB}"/>
              </a:ext>
            </a:extLst>
          </p:cNvPr>
          <p:cNvSpPr/>
          <p:nvPr/>
        </p:nvSpPr>
        <p:spPr>
          <a:xfrm>
            <a:off x="4692554" y="1271392"/>
            <a:ext cx="4477948" cy="1038120"/>
          </a:xfrm>
          <a:prstGeom prst="curved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mc:AlternateContent xmlns:mc="http://schemas.openxmlformats.org/markup-compatibility/2006" xmlns:a14="http://schemas.microsoft.com/office/drawing/2010/main">
        <mc:Choice Requires="a14">
          <p:sp>
            <p:nvSpPr>
              <p:cNvPr id="11" name="TextBox 12">
                <a:extLst>
                  <a:ext uri="{FF2B5EF4-FFF2-40B4-BE49-F238E27FC236}">
                    <a16:creationId xmlns:a16="http://schemas.microsoft.com/office/drawing/2014/main" id="{79593E33-CA1E-AAE6-110F-49DE79F13451}"/>
                  </a:ext>
                </a:extLst>
              </p:cNvPr>
              <p:cNvSpPr txBox="1"/>
              <p:nvPr/>
            </p:nvSpPr>
            <p:spPr>
              <a:xfrm>
                <a:off x="3969472" y="4126292"/>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sSup>
                        <m:sSupPr>
                          <m:ctrlPr>
                            <a:rPr lang="en-PH" sz="12000" b="1" i="1" smtClean="0">
                              <a:solidFill>
                                <a:srgbClr val="223939"/>
                              </a:solidFill>
                              <a:latin typeface="Cambria Math" panose="02040503050406030204" pitchFamily="18" charset="0"/>
                              <a:ea typeface="Borsok"/>
                              <a:cs typeface="Borsok"/>
                              <a:sym typeface="Borsok"/>
                            </a:rPr>
                          </m:ctrlPr>
                        </m:sSupPr>
                        <m:e>
                          <m:r>
                            <a:rPr lang="en-PH" sz="12000" b="1" i="1" smtClean="0">
                              <a:solidFill>
                                <a:srgbClr val="223939"/>
                              </a:solidFill>
                              <a:latin typeface="Cambria Math" panose="02040503050406030204" pitchFamily="18" charset="0"/>
                              <a:ea typeface="Borsok"/>
                              <a:cs typeface="Borsok"/>
                              <a:sym typeface="Borsok"/>
                            </a:rPr>
                            <m:t>𝒙</m:t>
                          </m:r>
                        </m:e>
                        <m:sup>
                          <m:r>
                            <a:rPr lang="en-PH" sz="12000" b="1" i="1" smtClean="0">
                              <a:solidFill>
                                <a:srgbClr val="223939"/>
                              </a:solidFill>
                              <a:latin typeface="Cambria Math" panose="02040503050406030204" pitchFamily="18" charset="0"/>
                              <a:ea typeface="Borsok"/>
                              <a:cs typeface="Borsok"/>
                              <a:sym typeface="Borsok"/>
                            </a:rPr>
                            <m:t>𝟐</m:t>
                          </m:r>
                        </m:sup>
                      </m:sSup>
                    </m:oMath>
                  </m:oMathPara>
                </a14:m>
                <a:endParaRPr lang="en-US" sz="12000" b="1" dirty="0">
                  <a:solidFill>
                    <a:srgbClr val="223939"/>
                  </a:solidFill>
                  <a:latin typeface="Borsok"/>
                  <a:ea typeface="Borsok"/>
                  <a:cs typeface="Borsok"/>
                  <a:sym typeface="Borsok"/>
                </a:endParaRPr>
              </a:p>
            </p:txBody>
          </p:sp>
        </mc:Choice>
        <mc:Fallback xmlns="">
          <p:sp>
            <p:nvSpPr>
              <p:cNvPr id="11" name="TextBox 12">
                <a:extLst>
                  <a:ext uri="{FF2B5EF4-FFF2-40B4-BE49-F238E27FC236}">
                    <a16:creationId xmlns:a16="http://schemas.microsoft.com/office/drawing/2014/main" id="{79593E33-CA1E-AAE6-110F-49DE79F13451}"/>
                  </a:ext>
                </a:extLst>
              </p:cNvPr>
              <p:cNvSpPr txBox="1">
                <a:spLocks noRot="1" noChangeAspect="1" noMove="1" noResize="1" noEditPoints="1" noAdjustHandles="1" noChangeArrowheads="1" noChangeShapeType="1" noTextEdit="1"/>
              </p:cNvSpPr>
              <p:nvPr/>
            </p:nvSpPr>
            <p:spPr>
              <a:xfrm>
                <a:off x="3969472" y="4126292"/>
                <a:ext cx="3735654" cy="1888402"/>
              </a:xfrm>
              <a:prstGeom prst="rect">
                <a:avLst/>
              </a:prstGeom>
              <a:blipFill>
                <a:blip r:embed="rId8"/>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EF18FA5-C9D9-9313-F344-FA45183AE699}"/>
                  </a:ext>
                </a:extLst>
              </p:cNvPr>
              <p:cNvSpPr txBox="1"/>
              <p:nvPr/>
            </p:nvSpPr>
            <p:spPr>
              <a:xfrm>
                <a:off x="6527562" y="4036417"/>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 </m:t>
                      </m:r>
                      <m:r>
                        <a:rPr lang="en-PH" sz="12000" b="1" i="1" smtClean="0">
                          <a:solidFill>
                            <a:srgbClr val="223939"/>
                          </a:solidFill>
                          <a:latin typeface="Cambria Math" panose="02040503050406030204" pitchFamily="18" charset="0"/>
                          <a:ea typeface="Borsok"/>
                          <a:cs typeface="Borsok"/>
                          <a:sym typeface="Borsok"/>
                        </a:rPr>
                        <m:t>𝟑</m:t>
                      </m:r>
                      <m:r>
                        <a:rPr lang="en-PH" sz="12000" b="1" i="1" smtClean="0">
                          <a:solidFill>
                            <a:srgbClr val="223939"/>
                          </a:solidFill>
                          <a:latin typeface="Cambria Math" panose="02040503050406030204" pitchFamily="18" charset="0"/>
                          <a:ea typeface="Borsok"/>
                          <a:cs typeface="Borsok"/>
                          <a:sym typeface="Borsok"/>
                        </a:rPr>
                        <m:t>𝒙</m:t>
                      </m:r>
                    </m:oMath>
                  </m:oMathPara>
                </a14:m>
                <a:endParaRPr lang="en-US" sz="12000" b="1" dirty="0">
                  <a:solidFill>
                    <a:srgbClr val="223939"/>
                  </a:solidFill>
                  <a:latin typeface="Borsok"/>
                  <a:ea typeface="Borsok"/>
                  <a:cs typeface="Borsok"/>
                  <a:sym typeface="Borsok"/>
                </a:endParaRPr>
              </a:p>
            </p:txBody>
          </p:sp>
        </mc:Choice>
        <mc:Fallback xmlns="">
          <p:sp>
            <p:nvSpPr>
              <p:cNvPr id="13" name="TextBox 12">
                <a:extLst>
                  <a:ext uri="{FF2B5EF4-FFF2-40B4-BE49-F238E27FC236}">
                    <a16:creationId xmlns:a16="http://schemas.microsoft.com/office/drawing/2014/main" id="{0EF18FA5-C9D9-9313-F344-FA45183AE699}"/>
                  </a:ext>
                </a:extLst>
              </p:cNvPr>
              <p:cNvSpPr txBox="1">
                <a:spLocks noRot="1" noChangeAspect="1" noMove="1" noResize="1" noEditPoints="1" noAdjustHandles="1" noChangeArrowheads="1" noChangeShapeType="1" noTextEdit="1"/>
              </p:cNvSpPr>
              <p:nvPr/>
            </p:nvSpPr>
            <p:spPr>
              <a:xfrm>
                <a:off x="6527562" y="4036417"/>
                <a:ext cx="3735654" cy="1888402"/>
              </a:xfrm>
              <a:prstGeom prst="rect">
                <a:avLst/>
              </a:prstGeom>
              <a:blipFill>
                <a:blip r:embed="rId9"/>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5" name="TextBox 12">
                <a:extLst>
                  <a:ext uri="{FF2B5EF4-FFF2-40B4-BE49-F238E27FC236}">
                    <a16:creationId xmlns:a16="http://schemas.microsoft.com/office/drawing/2014/main" id="{FAB1F98D-1FDD-0A35-EF91-EBF00C82B0B8}"/>
                  </a:ext>
                </a:extLst>
              </p:cNvPr>
              <p:cNvSpPr txBox="1"/>
              <p:nvPr/>
            </p:nvSpPr>
            <p:spPr>
              <a:xfrm>
                <a:off x="10190358" y="4036417"/>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𝟏𝟖</m:t>
                      </m:r>
                    </m:oMath>
                  </m:oMathPara>
                </a14:m>
                <a:endParaRPr lang="en-US" sz="12000" b="1" dirty="0">
                  <a:solidFill>
                    <a:srgbClr val="223939"/>
                  </a:solidFill>
                  <a:latin typeface="Borsok"/>
                  <a:ea typeface="Borsok"/>
                  <a:cs typeface="Borsok"/>
                  <a:sym typeface="Borsok"/>
                </a:endParaRPr>
              </a:p>
            </p:txBody>
          </p:sp>
        </mc:Choice>
        <mc:Fallback xmlns="">
          <p:sp>
            <p:nvSpPr>
              <p:cNvPr id="15" name="TextBox 12">
                <a:extLst>
                  <a:ext uri="{FF2B5EF4-FFF2-40B4-BE49-F238E27FC236}">
                    <a16:creationId xmlns:a16="http://schemas.microsoft.com/office/drawing/2014/main" id="{FAB1F98D-1FDD-0A35-EF91-EBF00C82B0B8}"/>
                  </a:ext>
                </a:extLst>
              </p:cNvPr>
              <p:cNvSpPr txBox="1">
                <a:spLocks noRot="1" noChangeAspect="1" noMove="1" noResize="1" noEditPoints="1" noAdjustHandles="1" noChangeArrowheads="1" noChangeShapeType="1" noTextEdit="1"/>
              </p:cNvSpPr>
              <p:nvPr/>
            </p:nvSpPr>
            <p:spPr>
              <a:xfrm>
                <a:off x="10190358" y="4036417"/>
                <a:ext cx="3735654" cy="1888402"/>
              </a:xfrm>
              <a:prstGeom prst="rect">
                <a:avLst/>
              </a:prstGeom>
              <a:blipFill>
                <a:blip r:embed="rId10"/>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6" name="TextBox 12">
                <a:extLst>
                  <a:ext uri="{FF2B5EF4-FFF2-40B4-BE49-F238E27FC236}">
                    <a16:creationId xmlns:a16="http://schemas.microsoft.com/office/drawing/2014/main" id="{04388B48-9012-F0EC-F7F9-9E4894380945}"/>
                  </a:ext>
                </a:extLst>
              </p:cNvPr>
              <p:cNvSpPr txBox="1"/>
              <p:nvPr/>
            </p:nvSpPr>
            <p:spPr>
              <a:xfrm>
                <a:off x="3052660" y="6212357"/>
                <a:ext cx="6581575"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sSup>
                        <m:sSupPr>
                          <m:ctrlPr>
                            <a:rPr lang="en-PH" sz="12000" b="1" i="1" smtClean="0">
                              <a:solidFill>
                                <a:srgbClr val="223939"/>
                              </a:solidFill>
                              <a:latin typeface="Cambria Math" panose="02040503050406030204" pitchFamily="18" charset="0"/>
                              <a:ea typeface="Borsok"/>
                              <a:cs typeface="Borsok"/>
                              <a:sym typeface="Borsok"/>
                            </a:rPr>
                          </m:ctrlPr>
                        </m:sSupPr>
                        <m:e>
                          <m:r>
                            <a:rPr lang="en-PH" sz="12000" b="1" i="1" smtClean="0">
                              <a:solidFill>
                                <a:srgbClr val="223939"/>
                              </a:solidFill>
                              <a:latin typeface="Cambria Math" panose="02040503050406030204" pitchFamily="18" charset="0"/>
                              <a:ea typeface="Borsok"/>
                              <a:cs typeface="Borsok"/>
                              <a:sym typeface="Borsok"/>
                            </a:rPr>
                            <m:t>𝒙</m:t>
                          </m:r>
                        </m:e>
                        <m:sup>
                          <m:r>
                            <a:rPr lang="en-PH" sz="12000" b="1" i="1" smtClean="0">
                              <a:solidFill>
                                <a:srgbClr val="223939"/>
                              </a:solidFill>
                              <a:latin typeface="Cambria Math" panose="02040503050406030204" pitchFamily="18" charset="0"/>
                              <a:ea typeface="Borsok"/>
                              <a:cs typeface="Borsok"/>
                              <a:sym typeface="Borsok"/>
                            </a:rPr>
                            <m:t>𝟐</m:t>
                          </m:r>
                        </m:sup>
                      </m:sSup>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𝟑</m:t>
                      </m:r>
                      <m:r>
                        <a:rPr lang="en-PH" sz="12000" b="1" i="1" smtClean="0">
                          <a:solidFill>
                            <a:srgbClr val="223939"/>
                          </a:solidFill>
                          <a:latin typeface="Cambria Math" panose="02040503050406030204" pitchFamily="18" charset="0"/>
                          <a:ea typeface="Borsok"/>
                          <a:cs typeface="Borsok"/>
                          <a:sym typeface="Borsok"/>
                        </a:rPr>
                        <m:t>𝒙</m:t>
                      </m:r>
                    </m:oMath>
                  </m:oMathPara>
                </a14:m>
                <a:endParaRPr lang="en-US" sz="12000" b="1" dirty="0">
                  <a:solidFill>
                    <a:srgbClr val="223939"/>
                  </a:solidFill>
                  <a:latin typeface="Borsok"/>
                  <a:ea typeface="Borsok"/>
                  <a:cs typeface="Borsok"/>
                  <a:sym typeface="Borsok"/>
                </a:endParaRPr>
              </a:p>
            </p:txBody>
          </p:sp>
        </mc:Choice>
        <mc:Fallback xmlns="">
          <p:sp>
            <p:nvSpPr>
              <p:cNvPr id="16" name="TextBox 12">
                <a:extLst>
                  <a:ext uri="{FF2B5EF4-FFF2-40B4-BE49-F238E27FC236}">
                    <a16:creationId xmlns:a16="http://schemas.microsoft.com/office/drawing/2014/main" id="{04388B48-9012-F0EC-F7F9-9E4894380945}"/>
                  </a:ext>
                </a:extLst>
              </p:cNvPr>
              <p:cNvSpPr txBox="1">
                <a:spLocks noRot="1" noChangeAspect="1" noMove="1" noResize="1" noEditPoints="1" noAdjustHandles="1" noChangeArrowheads="1" noChangeShapeType="1" noTextEdit="1"/>
              </p:cNvSpPr>
              <p:nvPr/>
            </p:nvSpPr>
            <p:spPr>
              <a:xfrm>
                <a:off x="3052660" y="6212357"/>
                <a:ext cx="6581575" cy="1888402"/>
              </a:xfrm>
              <a:prstGeom prst="rect">
                <a:avLst/>
              </a:prstGeom>
              <a:blipFill>
                <a:blip r:embed="rId11"/>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7" name="TextBox 12">
                <a:extLst>
                  <a:ext uri="{FF2B5EF4-FFF2-40B4-BE49-F238E27FC236}">
                    <a16:creationId xmlns:a16="http://schemas.microsoft.com/office/drawing/2014/main" id="{C6034286-8703-F8B3-6F56-CC2F81194DE2}"/>
                  </a:ext>
                </a:extLst>
              </p:cNvPr>
              <p:cNvSpPr txBox="1"/>
              <p:nvPr/>
            </p:nvSpPr>
            <p:spPr>
              <a:xfrm>
                <a:off x="8974045" y="6231024"/>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𝟏𝟖</m:t>
                      </m:r>
                    </m:oMath>
                  </m:oMathPara>
                </a14:m>
                <a:endParaRPr lang="en-US" sz="12000" b="1" dirty="0">
                  <a:solidFill>
                    <a:srgbClr val="223939"/>
                  </a:solidFill>
                  <a:latin typeface="Borsok"/>
                  <a:ea typeface="Borsok"/>
                  <a:cs typeface="Borsok"/>
                  <a:sym typeface="Borsok"/>
                </a:endParaRPr>
              </a:p>
            </p:txBody>
          </p:sp>
        </mc:Choice>
        <mc:Fallback xmlns="">
          <p:sp>
            <p:nvSpPr>
              <p:cNvPr id="17" name="TextBox 12">
                <a:extLst>
                  <a:ext uri="{FF2B5EF4-FFF2-40B4-BE49-F238E27FC236}">
                    <a16:creationId xmlns:a16="http://schemas.microsoft.com/office/drawing/2014/main" id="{C6034286-8703-F8B3-6F56-CC2F81194DE2}"/>
                  </a:ext>
                </a:extLst>
              </p:cNvPr>
              <p:cNvSpPr txBox="1">
                <a:spLocks noRot="1" noChangeAspect="1" noMove="1" noResize="1" noEditPoints="1" noAdjustHandles="1" noChangeArrowheads="1" noChangeShapeType="1" noTextEdit="1"/>
              </p:cNvSpPr>
              <p:nvPr/>
            </p:nvSpPr>
            <p:spPr>
              <a:xfrm>
                <a:off x="8974045" y="6231024"/>
                <a:ext cx="3735654" cy="1888402"/>
              </a:xfrm>
              <a:prstGeom prst="rect">
                <a:avLst/>
              </a:prstGeom>
              <a:blipFill>
                <a:blip r:embed="rId12"/>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8" name="TextBox 12">
                <a:extLst>
                  <a:ext uri="{FF2B5EF4-FFF2-40B4-BE49-F238E27FC236}">
                    <a16:creationId xmlns:a16="http://schemas.microsoft.com/office/drawing/2014/main" id="{F1E22948-8DF3-CEE0-5A8C-3F5EAC1B7A51}"/>
                  </a:ext>
                </a:extLst>
              </p:cNvPr>
              <p:cNvSpPr txBox="1"/>
              <p:nvPr/>
            </p:nvSpPr>
            <p:spPr>
              <a:xfrm>
                <a:off x="11895130" y="6183737"/>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𝟎</m:t>
                      </m:r>
                    </m:oMath>
                  </m:oMathPara>
                </a14:m>
                <a:endParaRPr lang="en-US" sz="12000" b="1" dirty="0">
                  <a:solidFill>
                    <a:srgbClr val="223939"/>
                  </a:solidFill>
                  <a:latin typeface="Borsok"/>
                  <a:ea typeface="Borsok"/>
                  <a:cs typeface="Borsok"/>
                  <a:sym typeface="Borsok"/>
                </a:endParaRPr>
              </a:p>
            </p:txBody>
          </p:sp>
        </mc:Choice>
        <mc:Fallback xmlns="">
          <p:sp>
            <p:nvSpPr>
              <p:cNvPr id="18" name="TextBox 12">
                <a:extLst>
                  <a:ext uri="{FF2B5EF4-FFF2-40B4-BE49-F238E27FC236}">
                    <a16:creationId xmlns:a16="http://schemas.microsoft.com/office/drawing/2014/main" id="{F1E22948-8DF3-CEE0-5A8C-3F5EAC1B7A51}"/>
                  </a:ext>
                </a:extLst>
              </p:cNvPr>
              <p:cNvSpPr txBox="1">
                <a:spLocks noRot="1" noChangeAspect="1" noMove="1" noResize="1" noEditPoints="1" noAdjustHandles="1" noChangeArrowheads="1" noChangeShapeType="1" noTextEdit="1"/>
              </p:cNvSpPr>
              <p:nvPr/>
            </p:nvSpPr>
            <p:spPr>
              <a:xfrm>
                <a:off x="11895130" y="6183737"/>
                <a:ext cx="3735654" cy="1888402"/>
              </a:xfrm>
              <a:prstGeom prst="rect">
                <a:avLst/>
              </a:prstGeom>
              <a:blipFill>
                <a:blip r:embed="rId13"/>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3119418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5">
                                            <p:txEl>
                                              <p:pRg st="0" end="0"/>
                                            </p:txEl>
                                          </p:spTgt>
                                        </p:tgtEl>
                                        <p:attrNameLst>
                                          <p:attrName>style.visibility</p:attrName>
                                        </p:attrNameLst>
                                      </p:cBhvr>
                                      <p:to>
                                        <p:strVal val="visible"/>
                                      </p:to>
                                    </p:set>
                                    <p:animEffect transition="in" filter="fade">
                                      <p:cBhvr>
                                        <p:cTn id="31" dur="1000"/>
                                        <p:tgtEl>
                                          <p:spTgt spid="15">
                                            <p:txEl>
                                              <p:pRg st="0" end="0"/>
                                            </p:txEl>
                                          </p:spTgt>
                                        </p:tgtEl>
                                      </p:cBhvr>
                                    </p:animEffect>
                                    <p:anim calcmode="lin" valueType="num">
                                      <p:cBhvr>
                                        <p:cTn id="32"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7">
                                            <p:txEl>
                                              <p:pRg st="0" end="0"/>
                                            </p:txEl>
                                          </p:spTgt>
                                        </p:tgtEl>
                                        <p:attrNameLst>
                                          <p:attrName>style.visibility</p:attrName>
                                        </p:attrNameLst>
                                      </p:cBhvr>
                                      <p:to>
                                        <p:strVal val="visible"/>
                                      </p:to>
                                    </p:set>
                                    <p:animEffect transition="in" filter="fade">
                                      <p:cBhvr>
                                        <p:cTn id="45" dur="1000"/>
                                        <p:tgtEl>
                                          <p:spTgt spid="17">
                                            <p:txEl>
                                              <p:pRg st="0" end="0"/>
                                            </p:txEl>
                                          </p:spTgt>
                                        </p:tgtEl>
                                      </p:cBhvr>
                                    </p:animEffect>
                                    <p:anim calcmode="lin" valueType="num">
                                      <p:cBhvr>
                                        <p:cTn id="46"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18">
                                            <p:txEl>
                                              <p:pRg st="0" end="0"/>
                                            </p:txEl>
                                          </p:spTgt>
                                        </p:tgtEl>
                                        <p:attrNameLst>
                                          <p:attrName>style.visibility</p:attrName>
                                        </p:attrNameLst>
                                      </p:cBhvr>
                                      <p:to>
                                        <p:strVal val="visible"/>
                                      </p:to>
                                    </p:set>
                                    <p:animEffect transition="in" filter="fade">
                                      <p:cBhvr>
                                        <p:cTn id="52" dur="1000"/>
                                        <p:tgtEl>
                                          <p:spTgt spid="18">
                                            <p:txEl>
                                              <p:pRg st="0" end="0"/>
                                            </p:txEl>
                                          </p:spTgt>
                                        </p:tgtEl>
                                      </p:cBhvr>
                                    </p:animEffect>
                                    <p:anim calcmode="lin" valueType="num">
                                      <p:cBhvr>
                                        <p:cTn id="53"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p:bldP spid="13"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8275-9BAF-2C09-6ADD-D8E5FA67E9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2DF82CD-8848-2CA9-81FA-E2694D999A8E}"/>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7C2BF88E-410C-16E0-DDC8-167CAD809708}"/>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78B7F9FD-F128-DA19-3A1D-7FEB6C12F36E}"/>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1B3F330-21DE-D6A7-B713-40EE0BCD9100}"/>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5C44A3D1-74BB-7F2D-02DC-95663ADF8C04}"/>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DF52A3FD-9C82-A51F-62F0-2474842CFDE6}"/>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6E94B45-F696-705E-341F-A1481875CDD0}"/>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1505514E-67AB-4EB6-F513-6439266CD14B}"/>
              </a:ext>
            </a:extLst>
          </p:cNvPr>
          <p:cNvSpPr txBox="1"/>
          <p:nvPr/>
        </p:nvSpPr>
        <p:spPr>
          <a:xfrm>
            <a:off x="1943642" y="1894329"/>
            <a:ext cx="14517412" cy="4616648"/>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Quadratic equations</a:t>
            </a:r>
          </a:p>
        </p:txBody>
      </p:sp>
      <p:sp>
        <p:nvSpPr>
          <p:cNvPr id="14" name="Freeform 14">
            <a:extLst>
              <a:ext uri="{FF2B5EF4-FFF2-40B4-BE49-F238E27FC236}">
                <a16:creationId xmlns:a16="http://schemas.microsoft.com/office/drawing/2014/main" id="{88CDA47D-9B78-C7F7-4479-8BECF410D08E}"/>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p:spTree>
    <p:extLst>
      <p:ext uri="{BB962C8B-B14F-4D97-AF65-F5344CB8AC3E}">
        <p14:creationId xmlns:p14="http://schemas.microsoft.com/office/powerpoint/2010/main" val="4165527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2392D4BE-0F6B-74FB-A511-D551B803CB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8AF2D09-11ED-D13C-6AB3-FF39F700DBB2}"/>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79A55C4B-6FD4-3741-1367-59A037BA4986}"/>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18E11BF4-8A00-0C6B-F985-517666EB3753}"/>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3C567FF-6F06-9037-1B99-C8E11762B5D2}"/>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9ED24DFB-CF09-70C4-8EE6-CDAF7FD8AD61}"/>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651CDEC8-52E6-E08B-1B5D-3DA7902349F4}"/>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E425880A-C1B4-AA1F-B435-98A4E9CCA438}"/>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82879302-BA12-A896-45D2-E182D622A2AF}"/>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FC5DFFA8-CC8E-A3F9-9367-0E62FCF82FF0}"/>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B7E08AA4-88B6-FCAB-CAC1-E5823761FEDB}"/>
                  </a:ext>
                </a:extLst>
              </p:cNvPr>
              <p:cNvSpPr txBox="1"/>
              <p:nvPr/>
            </p:nvSpPr>
            <p:spPr>
              <a:xfrm>
                <a:off x="3073865" y="3318357"/>
                <a:ext cx="12003425" cy="5007076"/>
              </a:xfrm>
              <a:prstGeom prst="rect">
                <a:avLst/>
              </a:prstGeom>
            </p:spPr>
            <p:txBody>
              <a:bodyPr wrap="square" lIns="0" tIns="0" rIns="0" bIns="0" rtlCol="0" anchor="t">
                <a:spAutoFit/>
              </a:bodyPr>
              <a:lstStyle/>
              <a:p>
                <a:pPr marL="431799" lvl="1" algn="just">
                  <a:lnSpc>
                    <a:spcPts val="5599"/>
                  </a:lnSpc>
                </a:pPr>
                <a:r>
                  <a:rPr lang="en-PH" sz="4500" dirty="0">
                    <a:solidFill>
                      <a:srgbClr val="1C2B2B"/>
                    </a:solidFill>
                    <a:latin typeface="Monterchi"/>
                    <a:ea typeface="Monterchi"/>
                    <a:cs typeface="Monterchi"/>
                    <a:sym typeface="Monterchi"/>
                  </a:rPr>
                  <a:t>A quadratic equation in one variable is of the form:</a:t>
                </a:r>
              </a:p>
              <a:p>
                <a:pPr marL="431799" lvl="1" algn="ctr">
                  <a:lnSpc>
                    <a:spcPct val="150000"/>
                  </a:lnSpc>
                </a:pPr>
                <a:r>
                  <a:rPr lang="en-PH" sz="6000" b="1" dirty="0">
                    <a:solidFill>
                      <a:srgbClr val="1C2B2B"/>
                    </a:solidFill>
                    <a:latin typeface="Monterchi"/>
                    <a:ea typeface="Monterchi"/>
                    <a:cs typeface="Monterchi"/>
                    <a:sym typeface="Monterchi"/>
                  </a:rPr>
                  <a:t> </a:t>
                </a:r>
                <a14:m>
                  <m:oMath xmlns:m="http://schemas.openxmlformats.org/officeDocument/2006/math">
                    <m:r>
                      <a:rPr lang="en-PH" sz="6000" b="1" i="1" smtClean="0">
                        <a:solidFill>
                          <a:srgbClr val="1C2B2B"/>
                        </a:solidFill>
                        <a:latin typeface="Cambria Math" panose="02040503050406030204" pitchFamily="18" charset="0"/>
                        <a:ea typeface="Monterchi"/>
                        <a:cs typeface="Monterchi"/>
                        <a:sym typeface="Monterchi"/>
                      </a:rPr>
                      <m:t>𝒂</m:t>
                    </m:r>
                    <m:sSup>
                      <m:sSupPr>
                        <m:ctrlPr>
                          <a:rPr lang="en-PH" sz="6000" b="1" i="1" smtClean="0">
                            <a:solidFill>
                              <a:srgbClr val="1C2B2B"/>
                            </a:solidFill>
                            <a:latin typeface="Cambria Math" panose="02040503050406030204" pitchFamily="18" charset="0"/>
                            <a:ea typeface="Monterchi"/>
                            <a:cs typeface="Monterchi"/>
                            <a:sym typeface="Monterchi"/>
                          </a:rPr>
                        </m:ctrlPr>
                      </m:sSupPr>
                      <m:e>
                        <m:r>
                          <a:rPr lang="en-PH" sz="6000" b="1" i="1" smtClean="0">
                            <a:solidFill>
                              <a:srgbClr val="1C2B2B"/>
                            </a:solidFill>
                            <a:latin typeface="Cambria Math" panose="02040503050406030204" pitchFamily="18" charset="0"/>
                            <a:ea typeface="Monterchi"/>
                            <a:cs typeface="Monterchi"/>
                            <a:sym typeface="Monterchi"/>
                          </a:rPr>
                          <m:t>𝒙</m:t>
                        </m:r>
                      </m:e>
                      <m:sup>
                        <m:r>
                          <a:rPr lang="en-PH" sz="6000" b="1" i="1" smtClean="0">
                            <a:solidFill>
                              <a:srgbClr val="1C2B2B"/>
                            </a:solidFill>
                            <a:latin typeface="Cambria Math" panose="02040503050406030204" pitchFamily="18" charset="0"/>
                            <a:ea typeface="Monterchi"/>
                            <a:cs typeface="Monterchi"/>
                            <a:sym typeface="Monterchi"/>
                          </a:rPr>
                          <m:t>𝟐</m:t>
                        </m:r>
                      </m:sup>
                    </m:sSup>
                    <m:r>
                      <a:rPr lang="en-PH" sz="6000" b="1" i="1" smtClean="0">
                        <a:solidFill>
                          <a:srgbClr val="1C2B2B"/>
                        </a:solidFill>
                        <a:latin typeface="Cambria Math" panose="02040503050406030204" pitchFamily="18" charset="0"/>
                        <a:ea typeface="Monterchi"/>
                        <a:cs typeface="Monterchi"/>
                        <a:sym typeface="Monterchi"/>
                      </a:rPr>
                      <m:t>+</m:t>
                    </m:r>
                    <m:r>
                      <a:rPr lang="en-PH" sz="6000" b="1" i="1" smtClean="0">
                        <a:solidFill>
                          <a:srgbClr val="1C2B2B"/>
                        </a:solidFill>
                        <a:latin typeface="Cambria Math" panose="02040503050406030204" pitchFamily="18" charset="0"/>
                        <a:ea typeface="Monterchi"/>
                        <a:cs typeface="Monterchi"/>
                        <a:sym typeface="Monterchi"/>
                      </a:rPr>
                      <m:t>𝒃𝒙</m:t>
                    </m:r>
                    <m:r>
                      <a:rPr lang="en-PH" sz="6000" b="1" i="1" smtClean="0">
                        <a:solidFill>
                          <a:srgbClr val="1C2B2B"/>
                        </a:solidFill>
                        <a:latin typeface="Cambria Math" panose="02040503050406030204" pitchFamily="18" charset="0"/>
                        <a:ea typeface="Monterchi"/>
                        <a:cs typeface="Monterchi"/>
                        <a:sym typeface="Monterchi"/>
                      </a:rPr>
                      <m:t>+</m:t>
                    </m:r>
                    <m:r>
                      <a:rPr lang="en-PH" sz="6000" b="1" i="1" smtClean="0">
                        <a:solidFill>
                          <a:srgbClr val="1C2B2B"/>
                        </a:solidFill>
                        <a:latin typeface="Cambria Math" panose="02040503050406030204" pitchFamily="18" charset="0"/>
                        <a:ea typeface="Monterchi"/>
                        <a:cs typeface="Monterchi"/>
                        <a:sym typeface="Monterchi"/>
                      </a:rPr>
                      <m:t>𝒄</m:t>
                    </m:r>
                    <m:r>
                      <a:rPr lang="en-PH" sz="6000" b="1" i="1" smtClean="0">
                        <a:solidFill>
                          <a:srgbClr val="1C2B2B"/>
                        </a:solidFill>
                        <a:latin typeface="Cambria Math" panose="02040503050406030204" pitchFamily="18" charset="0"/>
                        <a:ea typeface="Monterchi"/>
                        <a:cs typeface="Monterchi"/>
                        <a:sym typeface="Monterchi"/>
                      </a:rPr>
                      <m:t>=</m:t>
                    </m:r>
                    <m:r>
                      <a:rPr lang="en-PH" sz="6000" b="1" i="1" smtClean="0">
                        <a:solidFill>
                          <a:srgbClr val="1C2B2B"/>
                        </a:solidFill>
                        <a:latin typeface="Cambria Math" panose="02040503050406030204" pitchFamily="18" charset="0"/>
                        <a:ea typeface="Monterchi"/>
                        <a:cs typeface="Monterchi"/>
                        <a:sym typeface="Monterchi"/>
                      </a:rPr>
                      <m:t>𝟎</m:t>
                    </m:r>
                  </m:oMath>
                </a14:m>
                <a:endParaRPr lang="en-US" sz="6000" b="1" dirty="0">
                  <a:solidFill>
                    <a:srgbClr val="1C2B2B"/>
                  </a:solidFill>
                  <a:latin typeface="Monterchi"/>
                  <a:ea typeface="Monterchi"/>
                  <a:cs typeface="Monterchi"/>
                  <a:sym typeface="Monterchi"/>
                </a:endParaRPr>
              </a:p>
              <a:p>
                <a:pPr marL="431799" lvl="1" algn="just">
                  <a:lnSpc>
                    <a:spcPts val="5599"/>
                  </a:lnSpc>
                </a:pPr>
                <a:r>
                  <a:rPr lang="en-US" sz="4500" dirty="0">
                    <a:solidFill>
                      <a:srgbClr val="1C2B2B"/>
                    </a:solidFill>
                    <a:latin typeface="Monterchi"/>
                    <a:ea typeface="Monterchi"/>
                    <a:cs typeface="Monterchi"/>
                    <a:sym typeface="Monterchi"/>
                  </a:rPr>
                  <a:t>where </a:t>
                </a:r>
                <a14:m>
                  <m:oMath xmlns:m="http://schemas.openxmlformats.org/officeDocument/2006/math">
                    <m:r>
                      <a:rPr lang="en-PH" sz="4500" b="0" i="1" smtClean="0">
                        <a:solidFill>
                          <a:srgbClr val="1C2B2B"/>
                        </a:solidFill>
                        <a:latin typeface="Cambria Math" panose="02040503050406030204" pitchFamily="18" charset="0"/>
                        <a:ea typeface="Monterchi"/>
                        <a:cs typeface="Monterchi"/>
                        <a:sym typeface="Monterchi"/>
                      </a:rPr>
                      <m:t>𝑎</m:t>
                    </m:r>
                    <m:r>
                      <a:rPr lang="en-PH" sz="4500" b="0" i="1" smtClean="0">
                        <a:solidFill>
                          <a:srgbClr val="1C2B2B"/>
                        </a:solidFill>
                        <a:latin typeface="Cambria Math" panose="02040503050406030204" pitchFamily="18" charset="0"/>
                        <a:ea typeface="Monterchi"/>
                        <a:cs typeface="Monterchi"/>
                        <a:sym typeface="Monterchi"/>
                      </a:rPr>
                      <m:t>, </m:t>
                    </m:r>
                    <m:r>
                      <a:rPr lang="en-PH" sz="4500" b="0" i="1" smtClean="0">
                        <a:solidFill>
                          <a:srgbClr val="1C2B2B"/>
                        </a:solidFill>
                        <a:latin typeface="Cambria Math" panose="02040503050406030204" pitchFamily="18" charset="0"/>
                        <a:ea typeface="Monterchi"/>
                        <a:cs typeface="Monterchi"/>
                        <a:sym typeface="Monterchi"/>
                      </a:rPr>
                      <m:t>𝑏</m:t>
                    </m:r>
                    <m:r>
                      <a:rPr lang="en-PH" sz="4500" b="0" i="1" smtClean="0">
                        <a:solidFill>
                          <a:srgbClr val="1C2B2B"/>
                        </a:solidFill>
                        <a:latin typeface="Cambria Math" panose="02040503050406030204" pitchFamily="18" charset="0"/>
                        <a:ea typeface="Monterchi"/>
                        <a:cs typeface="Monterchi"/>
                        <a:sym typeface="Monterchi"/>
                      </a:rPr>
                      <m:t>, </m:t>
                    </m:r>
                  </m:oMath>
                </a14:m>
                <a:r>
                  <a:rPr lang="en-US" sz="4500" dirty="0">
                    <a:solidFill>
                      <a:srgbClr val="1C2B2B"/>
                    </a:solidFill>
                    <a:latin typeface="Monterchi"/>
                    <a:ea typeface="Monterchi"/>
                    <a:cs typeface="Monterchi"/>
                    <a:sym typeface="Monterchi"/>
                  </a:rPr>
                  <a:t>and </a:t>
                </a:r>
                <a14:m>
                  <m:oMath xmlns:m="http://schemas.openxmlformats.org/officeDocument/2006/math">
                    <m:r>
                      <a:rPr lang="en-PH" sz="4500" b="0" i="1" smtClean="0">
                        <a:solidFill>
                          <a:srgbClr val="1C2B2B"/>
                        </a:solidFill>
                        <a:latin typeface="Cambria Math" panose="02040503050406030204" pitchFamily="18" charset="0"/>
                        <a:ea typeface="Monterchi"/>
                        <a:cs typeface="Monterchi"/>
                        <a:sym typeface="Monterchi"/>
                      </a:rPr>
                      <m:t>𝑐</m:t>
                    </m:r>
                  </m:oMath>
                </a14:m>
                <a:r>
                  <a:rPr lang="en-US" sz="4500" dirty="0">
                    <a:solidFill>
                      <a:srgbClr val="1C2B2B"/>
                    </a:solidFill>
                    <a:latin typeface="Monterchi"/>
                    <a:ea typeface="Monterchi"/>
                    <a:cs typeface="Monterchi"/>
                    <a:sym typeface="Monterchi"/>
                  </a:rPr>
                  <a:t> are real numbers, and </a:t>
                </a:r>
                <a14:m>
                  <m:oMath xmlns:m="http://schemas.openxmlformats.org/officeDocument/2006/math">
                    <m:r>
                      <a:rPr lang="en-PH" sz="4500" b="0" i="1" smtClean="0">
                        <a:solidFill>
                          <a:srgbClr val="1C2B2B"/>
                        </a:solidFill>
                        <a:latin typeface="Cambria Math" panose="02040503050406030204" pitchFamily="18" charset="0"/>
                        <a:ea typeface="Monterchi"/>
                        <a:cs typeface="Monterchi"/>
                        <a:sym typeface="Monterchi"/>
                      </a:rPr>
                      <m:t>𝑎</m:t>
                    </m:r>
                    <m:r>
                      <a:rPr lang="en-PH" sz="4500" b="0" i="1" smtClean="0">
                        <a:solidFill>
                          <a:srgbClr val="1C2B2B"/>
                        </a:solidFill>
                        <a:latin typeface="Cambria Math" panose="02040503050406030204" pitchFamily="18" charset="0"/>
                        <a:ea typeface="Monterchi"/>
                        <a:cs typeface="Monterchi"/>
                        <a:sym typeface="Monterchi"/>
                      </a:rPr>
                      <m:t>≠0</m:t>
                    </m:r>
                  </m:oMath>
                </a14:m>
                <a:r>
                  <a:rPr lang="en-US" sz="4500" dirty="0">
                    <a:solidFill>
                      <a:srgbClr val="1C2B2B"/>
                    </a:solidFill>
                    <a:latin typeface="Monterchi"/>
                    <a:ea typeface="Monterchi"/>
                    <a:cs typeface="Monterchi"/>
                    <a:sym typeface="Monterchi"/>
                  </a:rPr>
                  <a:t>. </a:t>
                </a:r>
              </a:p>
              <a:p>
                <a:pPr marL="431799" lvl="1" algn="just">
                  <a:lnSpc>
                    <a:spcPts val="5599"/>
                  </a:lnSpc>
                </a:pPr>
                <a:endParaRPr lang="en-US" sz="4500" dirty="0">
                  <a:solidFill>
                    <a:srgbClr val="1C2B2B"/>
                  </a:solidFill>
                  <a:latin typeface="Monterchi"/>
                  <a:ea typeface="Monterchi"/>
                  <a:cs typeface="Monterchi"/>
                  <a:sym typeface="Monterchi"/>
                </a:endParaRPr>
              </a:p>
              <a:p>
                <a:pPr marL="431799" lvl="1" algn="just">
                  <a:lnSpc>
                    <a:spcPts val="5599"/>
                  </a:lnSpc>
                </a:pPr>
                <a:r>
                  <a:rPr lang="en-US" sz="4500" dirty="0">
                    <a:solidFill>
                      <a:srgbClr val="1C2B2B"/>
                    </a:solidFill>
                    <a:latin typeface="Monterchi"/>
                    <a:ea typeface="Monterchi"/>
                    <a:cs typeface="Monterchi"/>
                    <a:sym typeface="Monterchi"/>
                  </a:rPr>
                  <a:t>This form of a quadratic equation is written in standard form. </a:t>
                </a:r>
              </a:p>
            </p:txBody>
          </p:sp>
        </mc:Choice>
        <mc:Fallback xmlns="">
          <p:sp>
            <p:nvSpPr>
              <p:cNvPr id="12" name="TextBox 12">
                <a:extLst>
                  <a:ext uri="{FF2B5EF4-FFF2-40B4-BE49-F238E27FC236}">
                    <a16:creationId xmlns:a16="http://schemas.microsoft.com/office/drawing/2014/main" id="{B7E08AA4-88B6-FCAB-CAC1-E5823761FEDB}"/>
                  </a:ext>
                </a:extLst>
              </p:cNvPr>
              <p:cNvSpPr txBox="1">
                <a:spLocks noRot="1" noChangeAspect="1" noMove="1" noResize="1" noEditPoints="1" noAdjustHandles="1" noChangeArrowheads="1" noChangeShapeType="1" noTextEdit="1"/>
              </p:cNvSpPr>
              <p:nvPr/>
            </p:nvSpPr>
            <p:spPr>
              <a:xfrm>
                <a:off x="3073865" y="3318357"/>
                <a:ext cx="12003425" cy="5007076"/>
              </a:xfrm>
              <a:prstGeom prst="rect">
                <a:avLst/>
              </a:prstGeom>
              <a:blipFill>
                <a:blip r:embed="rId4"/>
                <a:stretch>
                  <a:fillRect t="-2920" r="-2895" b="-5961"/>
                </a:stretch>
              </a:blipFill>
            </p:spPr>
            <p:txBody>
              <a:bodyPr/>
              <a:lstStyle/>
              <a:p>
                <a:r>
                  <a:rPr lang="en-PH">
                    <a:noFill/>
                  </a:rPr>
                  <a:t> </a:t>
                </a:r>
              </a:p>
            </p:txBody>
          </p:sp>
        </mc:Fallback>
      </mc:AlternateContent>
      <p:sp>
        <p:nvSpPr>
          <p:cNvPr id="19" name="TextBox 19">
            <a:extLst>
              <a:ext uri="{FF2B5EF4-FFF2-40B4-BE49-F238E27FC236}">
                <a16:creationId xmlns:a16="http://schemas.microsoft.com/office/drawing/2014/main" id="{6C65496A-BBFB-B147-2181-D8691DBB9A35}"/>
              </a:ext>
            </a:extLst>
          </p:cNvPr>
          <p:cNvSpPr txBox="1"/>
          <p:nvPr/>
        </p:nvSpPr>
        <p:spPr>
          <a:xfrm>
            <a:off x="3962045" y="1317819"/>
            <a:ext cx="10227067" cy="1538883"/>
          </a:xfrm>
          <a:prstGeom prst="rect">
            <a:avLst/>
          </a:prstGeom>
        </p:spPr>
        <p:txBody>
          <a:bodyPr wrap="square" lIns="0" tIns="0" rIns="0" bIns="0" rtlCol="0" anchor="t">
            <a:spAutoFit/>
          </a:bodyPr>
          <a:lstStyle/>
          <a:p>
            <a:pPr algn="ctr"/>
            <a:r>
              <a:rPr lang="en-US" sz="5000" dirty="0">
                <a:solidFill>
                  <a:srgbClr val="E1E1E1"/>
                </a:solidFill>
                <a:latin typeface="Bugaki"/>
                <a:ea typeface="Bugaki"/>
                <a:cs typeface="Bugaki"/>
                <a:sym typeface="Bugaki"/>
              </a:rPr>
              <a:t>What is a Quadratic Equation?</a:t>
            </a:r>
          </a:p>
        </p:txBody>
      </p:sp>
      <p:sp>
        <p:nvSpPr>
          <p:cNvPr id="21" name="Freeform 14">
            <a:extLst>
              <a:ext uri="{FF2B5EF4-FFF2-40B4-BE49-F238E27FC236}">
                <a16:creationId xmlns:a16="http://schemas.microsoft.com/office/drawing/2014/main" id="{862DAECE-304B-6629-E22A-93757842CCFD}"/>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p:spTree>
    <p:extLst>
      <p:ext uri="{BB962C8B-B14F-4D97-AF65-F5344CB8AC3E}">
        <p14:creationId xmlns:p14="http://schemas.microsoft.com/office/powerpoint/2010/main" val="1248181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18586-6C0B-9872-63B1-806789BFCF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5BC5AC4-F6D1-9A01-CDFC-5BD5FFAB00F8}"/>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6FAFA223-9383-8C1F-E031-260A6AA67F3B}"/>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FA2F1E33-919C-8542-D5DD-31216B24952B}"/>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9494C591-3181-1C12-551F-0D432E52C2BA}"/>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F50B12BC-6311-D2FF-CD9B-ADFFDBB1E231}"/>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06C5E595-FE9F-2EDF-257E-62DA8CCD09D4}"/>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8A60F735-8BB8-A63C-A45C-65A336159949}"/>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5BE493B1-76FB-B97A-9529-930B949D7FDA}"/>
                  </a:ext>
                </a:extLst>
              </p:cNvPr>
              <p:cNvSpPr txBox="1"/>
              <p:nvPr/>
            </p:nvSpPr>
            <p:spPr>
              <a:xfrm>
                <a:off x="2057400" y="1816780"/>
                <a:ext cx="14517412" cy="1846659"/>
              </a:xfrm>
              <a:prstGeom prst="rect">
                <a:avLst/>
              </a:prstGeom>
            </p:spPr>
            <p:txBody>
              <a:bodyPr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𝒙</m:t>
                      </m:r>
                      <m:d>
                        <m:dPr>
                          <m:ctrlPr>
                            <a:rPr lang="en-PH" sz="12000" b="1" i="1" smtClean="0">
                              <a:solidFill>
                                <a:srgbClr val="223939"/>
                              </a:solidFill>
                              <a:latin typeface="Cambria Math" panose="02040503050406030204" pitchFamily="18" charset="0"/>
                              <a:ea typeface="Borsok"/>
                              <a:cs typeface="Borsok"/>
                              <a:sym typeface="Borsok"/>
                            </a:rPr>
                          </m:ctrlPr>
                        </m:dPr>
                        <m:e>
                          <m:r>
                            <a:rPr lang="en-PH" sz="12000" b="1" i="1" smtClean="0">
                              <a:solidFill>
                                <a:srgbClr val="223939"/>
                              </a:solidFill>
                              <a:latin typeface="Cambria Math" panose="02040503050406030204" pitchFamily="18" charset="0"/>
                              <a:ea typeface="Borsok"/>
                              <a:cs typeface="Borsok"/>
                              <a:sym typeface="Borsok"/>
                            </a:rPr>
                            <m:t>𝒙</m:t>
                          </m:r>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𝟑</m:t>
                          </m:r>
                        </m:e>
                      </m:d>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𝟏𝟖</m:t>
                      </m:r>
                    </m:oMath>
                  </m:oMathPara>
                </a14:m>
                <a:endParaRPr lang="en-US" sz="12000" b="1" dirty="0">
                  <a:solidFill>
                    <a:srgbClr val="223939"/>
                  </a:solidFill>
                  <a:latin typeface="Borsok"/>
                  <a:ea typeface="Borsok"/>
                  <a:cs typeface="Borsok"/>
                  <a:sym typeface="Borsok"/>
                </a:endParaRPr>
              </a:p>
            </p:txBody>
          </p:sp>
        </mc:Choice>
        <mc:Fallback xmlns="">
          <p:sp>
            <p:nvSpPr>
              <p:cNvPr id="12" name="TextBox 12">
                <a:extLst>
                  <a:ext uri="{FF2B5EF4-FFF2-40B4-BE49-F238E27FC236}">
                    <a16:creationId xmlns:a16="http://schemas.microsoft.com/office/drawing/2014/main" id="{5BE493B1-76FB-B97A-9529-930B949D7FDA}"/>
                  </a:ext>
                </a:extLst>
              </p:cNvPr>
              <p:cNvSpPr txBox="1">
                <a:spLocks noRot="1" noChangeAspect="1" noMove="1" noResize="1" noEditPoints="1" noAdjustHandles="1" noChangeArrowheads="1" noChangeShapeType="1" noTextEdit="1"/>
              </p:cNvSpPr>
              <p:nvPr/>
            </p:nvSpPr>
            <p:spPr>
              <a:xfrm>
                <a:off x="2057400" y="1816780"/>
                <a:ext cx="14517412" cy="1846659"/>
              </a:xfrm>
              <a:prstGeom prst="rect">
                <a:avLst/>
              </a:prstGeom>
              <a:blipFill>
                <a:blip r:embed="rId6"/>
                <a:stretch>
                  <a:fillRect/>
                </a:stretch>
              </a:blipFill>
            </p:spPr>
            <p:txBody>
              <a:bodyPr/>
              <a:lstStyle/>
              <a:p>
                <a:r>
                  <a:rPr lang="en-PH">
                    <a:noFill/>
                  </a:rPr>
                  <a:t> </a:t>
                </a:r>
              </a:p>
            </p:txBody>
          </p:sp>
        </mc:Fallback>
      </mc:AlternateContent>
      <p:sp>
        <p:nvSpPr>
          <p:cNvPr id="14" name="Freeform 14">
            <a:extLst>
              <a:ext uri="{FF2B5EF4-FFF2-40B4-BE49-F238E27FC236}">
                <a16:creationId xmlns:a16="http://schemas.microsoft.com/office/drawing/2014/main" id="{A351BFAB-7D23-9028-B086-AFED4D28E20B}"/>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7"/>
            <a:stretch>
              <a:fillRect/>
            </a:stretch>
          </a:blipFill>
        </p:spPr>
        <p:txBody>
          <a:bodyPr/>
          <a:lstStyle/>
          <a:p>
            <a:endParaRPr lang="en-PH" dirty="0"/>
          </a:p>
        </p:txBody>
      </p:sp>
      <p:sp>
        <p:nvSpPr>
          <p:cNvPr id="8" name="Arrow: Curved Down 7">
            <a:extLst>
              <a:ext uri="{FF2B5EF4-FFF2-40B4-BE49-F238E27FC236}">
                <a16:creationId xmlns:a16="http://schemas.microsoft.com/office/drawing/2014/main" id="{27DFEB3C-77F4-53CF-AA4B-EA051914BA65}"/>
              </a:ext>
            </a:extLst>
          </p:cNvPr>
          <p:cNvSpPr/>
          <p:nvPr/>
        </p:nvSpPr>
        <p:spPr>
          <a:xfrm>
            <a:off x="4724400" y="1555795"/>
            <a:ext cx="1600200" cy="762000"/>
          </a:xfrm>
          <a:prstGeom prst="curved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0" name="Arrow: Curved Down 9">
            <a:extLst>
              <a:ext uri="{FF2B5EF4-FFF2-40B4-BE49-F238E27FC236}">
                <a16:creationId xmlns:a16="http://schemas.microsoft.com/office/drawing/2014/main" id="{589C6CD1-BC6C-39D9-47DC-AA3304418B67}"/>
              </a:ext>
            </a:extLst>
          </p:cNvPr>
          <p:cNvSpPr/>
          <p:nvPr/>
        </p:nvSpPr>
        <p:spPr>
          <a:xfrm>
            <a:off x="4692554" y="1271392"/>
            <a:ext cx="4477948" cy="1038120"/>
          </a:xfrm>
          <a:prstGeom prst="curved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mc:AlternateContent xmlns:mc="http://schemas.openxmlformats.org/markup-compatibility/2006" xmlns:a14="http://schemas.microsoft.com/office/drawing/2010/main">
        <mc:Choice Requires="a14">
          <p:sp>
            <p:nvSpPr>
              <p:cNvPr id="11" name="TextBox 12">
                <a:extLst>
                  <a:ext uri="{FF2B5EF4-FFF2-40B4-BE49-F238E27FC236}">
                    <a16:creationId xmlns:a16="http://schemas.microsoft.com/office/drawing/2014/main" id="{419FB664-B2C8-489C-A955-CCFA31DB3BA3}"/>
                  </a:ext>
                </a:extLst>
              </p:cNvPr>
              <p:cNvSpPr txBox="1"/>
              <p:nvPr/>
            </p:nvSpPr>
            <p:spPr>
              <a:xfrm>
                <a:off x="3969472" y="4126292"/>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sSup>
                        <m:sSupPr>
                          <m:ctrlPr>
                            <a:rPr lang="en-PH" sz="12000" b="1" i="1" smtClean="0">
                              <a:solidFill>
                                <a:srgbClr val="223939"/>
                              </a:solidFill>
                              <a:latin typeface="Cambria Math" panose="02040503050406030204" pitchFamily="18" charset="0"/>
                              <a:ea typeface="Borsok"/>
                              <a:cs typeface="Borsok"/>
                              <a:sym typeface="Borsok"/>
                            </a:rPr>
                          </m:ctrlPr>
                        </m:sSupPr>
                        <m:e>
                          <m:r>
                            <a:rPr lang="en-PH" sz="12000" b="1" i="1" smtClean="0">
                              <a:solidFill>
                                <a:srgbClr val="223939"/>
                              </a:solidFill>
                              <a:latin typeface="Cambria Math" panose="02040503050406030204" pitchFamily="18" charset="0"/>
                              <a:ea typeface="Borsok"/>
                              <a:cs typeface="Borsok"/>
                              <a:sym typeface="Borsok"/>
                            </a:rPr>
                            <m:t>𝒙</m:t>
                          </m:r>
                        </m:e>
                        <m:sup>
                          <m:r>
                            <a:rPr lang="en-PH" sz="12000" b="1" i="1" smtClean="0">
                              <a:solidFill>
                                <a:srgbClr val="223939"/>
                              </a:solidFill>
                              <a:latin typeface="Cambria Math" panose="02040503050406030204" pitchFamily="18" charset="0"/>
                              <a:ea typeface="Borsok"/>
                              <a:cs typeface="Borsok"/>
                              <a:sym typeface="Borsok"/>
                            </a:rPr>
                            <m:t>𝟐</m:t>
                          </m:r>
                        </m:sup>
                      </m:sSup>
                    </m:oMath>
                  </m:oMathPara>
                </a14:m>
                <a:endParaRPr lang="en-US" sz="12000" b="1" dirty="0">
                  <a:solidFill>
                    <a:srgbClr val="223939"/>
                  </a:solidFill>
                  <a:latin typeface="Borsok"/>
                  <a:ea typeface="Borsok"/>
                  <a:cs typeface="Borsok"/>
                  <a:sym typeface="Borsok"/>
                </a:endParaRPr>
              </a:p>
            </p:txBody>
          </p:sp>
        </mc:Choice>
        <mc:Fallback xmlns="">
          <p:sp>
            <p:nvSpPr>
              <p:cNvPr id="11" name="TextBox 12">
                <a:extLst>
                  <a:ext uri="{FF2B5EF4-FFF2-40B4-BE49-F238E27FC236}">
                    <a16:creationId xmlns:a16="http://schemas.microsoft.com/office/drawing/2014/main" id="{419FB664-B2C8-489C-A955-CCFA31DB3BA3}"/>
                  </a:ext>
                </a:extLst>
              </p:cNvPr>
              <p:cNvSpPr txBox="1">
                <a:spLocks noRot="1" noChangeAspect="1" noMove="1" noResize="1" noEditPoints="1" noAdjustHandles="1" noChangeArrowheads="1" noChangeShapeType="1" noTextEdit="1"/>
              </p:cNvSpPr>
              <p:nvPr/>
            </p:nvSpPr>
            <p:spPr>
              <a:xfrm>
                <a:off x="3969472" y="4126292"/>
                <a:ext cx="3735654" cy="1888402"/>
              </a:xfrm>
              <a:prstGeom prst="rect">
                <a:avLst/>
              </a:prstGeom>
              <a:blipFill>
                <a:blip r:embed="rId8"/>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7C128E5-53FB-A917-4907-E63D068E9848}"/>
                  </a:ext>
                </a:extLst>
              </p:cNvPr>
              <p:cNvSpPr txBox="1"/>
              <p:nvPr/>
            </p:nvSpPr>
            <p:spPr>
              <a:xfrm>
                <a:off x="6527562" y="4036417"/>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 </m:t>
                      </m:r>
                      <m:r>
                        <a:rPr lang="en-PH" sz="12000" b="1" i="1" smtClean="0">
                          <a:solidFill>
                            <a:srgbClr val="223939"/>
                          </a:solidFill>
                          <a:latin typeface="Cambria Math" panose="02040503050406030204" pitchFamily="18" charset="0"/>
                          <a:ea typeface="Borsok"/>
                          <a:cs typeface="Borsok"/>
                          <a:sym typeface="Borsok"/>
                        </a:rPr>
                        <m:t>𝟑</m:t>
                      </m:r>
                      <m:r>
                        <a:rPr lang="en-PH" sz="12000" b="1" i="1" smtClean="0">
                          <a:solidFill>
                            <a:srgbClr val="223939"/>
                          </a:solidFill>
                          <a:latin typeface="Cambria Math" panose="02040503050406030204" pitchFamily="18" charset="0"/>
                          <a:ea typeface="Borsok"/>
                          <a:cs typeface="Borsok"/>
                          <a:sym typeface="Borsok"/>
                        </a:rPr>
                        <m:t>𝒙</m:t>
                      </m:r>
                    </m:oMath>
                  </m:oMathPara>
                </a14:m>
                <a:endParaRPr lang="en-US" sz="12000" b="1" dirty="0">
                  <a:solidFill>
                    <a:srgbClr val="223939"/>
                  </a:solidFill>
                  <a:latin typeface="Borsok"/>
                  <a:ea typeface="Borsok"/>
                  <a:cs typeface="Borsok"/>
                  <a:sym typeface="Borsok"/>
                </a:endParaRPr>
              </a:p>
            </p:txBody>
          </p:sp>
        </mc:Choice>
        <mc:Fallback xmlns="">
          <p:sp>
            <p:nvSpPr>
              <p:cNvPr id="13" name="TextBox 12">
                <a:extLst>
                  <a:ext uri="{FF2B5EF4-FFF2-40B4-BE49-F238E27FC236}">
                    <a16:creationId xmlns:a16="http://schemas.microsoft.com/office/drawing/2014/main" id="{87C128E5-53FB-A917-4907-E63D068E9848}"/>
                  </a:ext>
                </a:extLst>
              </p:cNvPr>
              <p:cNvSpPr txBox="1">
                <a:spLocks noRot="1" noChangeAspect="1" noMove="1" noResize="1" noEditPoints="1" noAdjustHandles="1" noChangeArrowheads="1" noChangeShapeType="1" noTextEdit="1"/>
              </p:cNvSpPr>
              <p:nvPr/>
            </p:nvSpPr>
            <p:spPr>
              <a:xfrm>
                <a:off x="6527562" y="4036417"/>
                <a:ext cx="3735654" cy="1888402"/>
              </a:xfrm>
              <a:prstGeom prst="rect">
                <a:avLst/>
              </a:prstGeom>
              <a:blipFill>
                <a:blip r:embed="rId9"/>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5" name="TextBox 12">
                <a:extLst>
                  <a:ext uri="{FF2B5EF4-FFF2-40B4-BE49-F238E27FC236}">
                    <a16:creationId xmlns:a16="http://schemas.microsoft.com/office/drawing/2014/main" id="{5409D8DE-1EB6-0C62-C496-DF7DA55C3233}"/>
                  </a:ext>
                </a:extLst>
              </p:cNvPr>
              <p:cNvSpPr txBox="1"/>
              <p:nvPr/>
            </p:nvSpPr>
            <p:spPr>
              <a:xfrm>
                <a:off x="10190358" y="4036417"/>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𝟏𝟖</m:t>
                      </m:r>
                    </m:oMath>
                  </m:oMathPara>
                </a14:m>
                <a:endParaRPr lang="en-US" sz="12000" b="1" dirty="0">
                  <a:solidFill>
                    <a:srgbClr val="223939"/>
                  </a:solidFill>
                  <a:latin typeface="Borsok"/>
                  <a:ea typeface="Borsok"/>
                  <a:cs typeface="Borsok"/>
                  <a:sym typeface="Borsok"/>
                </a:endParaRPr>
              </a:p>
            </p:txBody>
          </p:sp>
        </mc:Choice>
        <mc:Fallback xmlns="">
          <p:sp>
            <p:nvSpPr>
              <p:cNvPr id="15" name="TextBox 12">
                <a:extLst>
                  <a:ext uri="{FF2B5EF4-FFF2-40B4-BE49-F238E27FC236}">
                    <a16:creationId xmlns:a16="http://schemas.microsoft.com/office/drawing/2014/main" id="{5409D8DE-1EB6-0C62-C496-DF7DA55C3233}"/>
                  </a:ext>
                </a:extLst>
              </p:cNvPr>
              <p:cNvSpPr txBox="1">
                <a:spLocks noRot="1" noChangeAspect="1" noMove="1" noResize="1" noEditPoints="1" noAdjustHandles="1" noChangeArrowheads="1" noChangeShapeType="1" noTextEdit="1"/>
              </p:cNvSpPr>
              <p:nvPr/>
            </p:nvSpPr>
            <p:spPr>
              <a:xfrm>
                <a:off x="10190358" y="4036417"/>
                <a:ext cx="3735654" cy="1888402"/>
              </a:xfrm>
              <a:prstGeom prst="rect">
                <a:avLst/>
              </a:prstGeom>
              <a:blipFill>
                <a:blip r:embed="rId10"/>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6" name="TextBox 12">
                <a:extLst>
                  <a:ext uri="{FF2B5EF4-FFF2-40B4-BE49-F238E27FC236}">
                    <a16:creationId xmlns:a16="http://schemas.microsoft.com/office/drawing/2014/main" id="{671CD6BE-21E0-B29B-2FE2-DDEA67044A5E}"/>
                  </a:ext>
                </a:extLst>
              </p:cNvPr>
              <p:cNvSpPr txBox="1"/>
              <p:nvPr/>
            </p:nvSpPr>
            <p:spPr>
              <a:xfrm>
                <a:off x="3052660" y="6212357"/>
                <a:ext cx="6581575"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sSup>
                        <m:sSupPr>
                          <m:ctrlPr>
                            <a:rPr lang="en-PH" sz="12000" b="1" i="1" smtClean="0">
                              <a:solidFill>
                                <a:srgbClr val="223939"/>
                              </a:solidFill>
                              <a:latin typeface="Cambria Math" panose="02040503050406030204" pitchFamily="18" charset="0"/>
                              <a:ea typeface="Borsok"/>
                              <a:cs typeface="Borsok"/>
                              <a:sym typeface="Borsok"/>
                            </a:rPr>
                          </m:ctrlPr>
                        </m:sSupPr>
                        <m:e>
                          <m:r>
                            <a:rPr lang="en-PH" sz="12000" b="1" i="1" smtClean="0">
                              <a:solidFill>
                                <a:srgbClr val="223939"/>
                              </a:solidFill>
                              <a:latin typeface="Cambria Math" panose="02040503050406030204" pitchFamily="18" charset="0"/>
                              <a:ea typeface="Borsok"/>
                              <a:cs typeface="Borsok"/>
                              <a:sym typeface="Borsok"/>
                            </a:rPr>
                            <m:t>𝒙</m:t>
                          </m:r>
                        </m:e>
                        <m:sup>
                          <m:r>
                            <a:rPr lang="en-PH" sz="12000" b="1" i="1" smtClean="0">
                              <a:solidFill>
                                <a:srgbClr val="223939"/>
                              </a:solidFill>
                              <a:latin typeface="Cambria Math" panose="02040503050406030204" pitchFamily="18" charset="0"/>
                              <a:ea typeface="Borsok"/>
                              <a:cs typeface="Borsok"/>
                              <a:sym typeface="Borsok"/>
                            </a:rPr>
                            <m:t>𝟐</m:t>
                          </m:r>
                        </m:sup>
                      </m:sSup>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𝟑</m:t>
                      </m:r>
                      <m:r>
                        <a:rPr lang="en-PH" sz="12000" b="1" i="1" smtClean="0">
                          <a:solidFill>
                            <a:srgbClr val="223939"/>
                          </a:solidFill>
                          <a:latin typeface="Cambria Math" panose="02040503050406030204" pitchFamily="18" charset="0"/>
                          <a:ea typeface="Borsok"/>
                          <a:cs typeface="Borsok"/>
                          <a:sym typeface="Borsok"/>
                        </a:rPr>
                        <m:t>𝒙</m:t>
                      </m:r>
                    </m:oMath>
                  </m:oMathPara>
                </a14:m>
                <a:endParaRPr lang="en-US" sz="12000" b="1" dirty="0">
                  <a:solidFill>
                    <a:srgbClr val="223939"/>
                  </a:solidFill>
                  <a:latin typeface="Borsok"/>
                  <a:ea typeface="Borsok"/>
                  <a:cs typeface="Borsok"/>
                  <a:sym typeface="Borsok"/>
                </a:endParaRPr>
              </a:p>
            </p:txBody>
          </p:sp>
        </mc:Choice>
        <mc:Fallback xmlns="">
          <p:sp>
            <p:nvSpPr>
              <p:cNvPr id="16" name="TextBox 12">
                <a:extLst>
                  <a:ext uri="{FF2B5EF4-FFF2-40B4-BE49-F238E27FC236}">
                    <a16:creationId xmlns:a16="http://schemas.microsoft.com/office/drawing/2014/main" id="{671CD6BE-21E0-B29B-2FE2-DDEA67044A5E}"/>
                  </a:ext>
                </a:extLst>
              </p:cNvPr>
              <p:cNvSpPr txBox="1">
                <a:spLocks noRot="1" noChangeAspect="1" noMove="1" noResize="1" noEditPoints="1" noAdjustHandles="1" noChangeArrowheads="1" noChangeShapeType="1" noTextEdit="1"/>
              </p:cNvSpPr>
              <p:nvPr/>
            </p:nvSpPr>
            <p:spPr>
              <a:xfrm>
                <a:off x="3052660" y="6212357"/>
                <a:ext cx="6581575" cy="1888402"/>
              </a:xfrm>
              <a:prstGeom prst="rect">
                <a:avLst/>
              </a:prstGeom>
              <a:blipFill>
                <a:blip r:embed="rId11"/>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7" name="TextBox 12">
                <a:extLst>
                  <a:ext uri="{FF2B5EF4-FFF2-40B4-BE49-F238E27FC236}">
                    <a16:creationId xmlns:a16="http://schemas.microsoft.com/office/drawing/2014/main" id="{629CD226-9A53-5DF6-0AF0-79B4EC2BE5B9}"/>
                  </a:ext>
                </a:extLst>
              </p:cNvPr>
              <p:cNvSpPr txBox="1"/>
              <p:nvPr/>
            </p:nvSpPr>
            <p:spPr>
              <a:xfrm>
                <a:off x="8974045" y="6231024"/>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𝟏𝟖</m:t>
                      </m:r>
                    </m:oMath>
                  </m:oMathPara>
                </a14:m>
                <a:endParaRPr lang="en-US" sz="12000" b="1" dirty="0">
                  <a:solidFill>
                    <a:srgbClr val="223939"/>
                  </a:solidFill>
                  <a:latin typeface="Borsok"/>
                  <a:ea typeface="Borsok"/>
                  <a:cs typeface="Borsok"/>
                  <a:sym typeface="Borsok"/>
                </a:endParaRPr>
              </a:p>
            </p:txBody>
          </p:sp>
        </mc:Choice>
        <mc:Fallback xmlns="">
          <p:sp>
            <p:nvSpPr>
              <p:cNvPr id="17" name="TextBox 12">
                <a:extLst>
                  <a:ext uri="{FF2B5EF4-FFF2-40B4-BE49-F238E27FC236}">
                    <a16:creationId xmlns:a16="http://schemas.microsoft.com/office/drawing/2014/main" id="{629CD226-9A53-5DF6-0AF0-79B4EC2BE5B9}"/>
                  </a:ext>
                </a:extLst>
              </p:cNvPr>
              <p:cNvSpPr txBox="1">
                <a:spLocks noRot="1" noChangeAspect="1" noMove="1" noResize="1" noEditPoints="1" noAdjustHandles="1" noChangeArrowheads="1" noChangeShapeType="1" noTextEdit="1"/>
              </p:cNvSpPr>
              <p:nvPr/>
            </p:nvSpPr>
            <p:spPr>
              <a:xfrm>
                <a:off x="8974045" y="6231024"/>
                <a:ext cx="3735654" cy="1888402"/>
              </a:xfrm>
              <a:prstGeom prst="rect">
                <a:avLst/>
              </a:prstGeom>
              <a:blipFill>
                <a:blip r:embed="rId12"/>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8" name="TextBox 12">
                <a:extLst>
                  <a:ext uri="{FF2B5EF4-FFF2-40B4-BE49-F238E27FC236}">
                    <a16:creationId xmlns:a16="http://schemas.microsoft.com/office/drawing/2014/main" id="{D13FC4F5-8513-937E-A65D-D4449BC0C59B}"/>
                  </a:ext>
                </a:extLst>
              </p:cNvPr>
              <p:cNvSpPr txBox="1"/>
              <p:nvPr/>
            </p:nvSpPr>
            <p:spPr>
              <a:xfrm>
                <a:off x="11895130" y="6183737"/>
                <a:ext cx="3735654" cy="1888402"/>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2000" b="1" i="1" smtClean="0">
                          <a:solidFill>
                            <a:srgbClr val="223939"/>
                          </a:solidFill>
                          <a:latin typeface="Cambria Math" panose="02040503050406030204" pitchFamily="18" charset="0"/>
                          <a:ea typeface="Borsok"/>
                          <a:cs typeface="Borsok"/>
                          <a:sym typeface="Borsok"/>
                        </a:rPr>
                        <m:t>=</m:t>
                      </m:r>
                      <m:r>
                        <a:rPr lang="en-PH" sz="12000" b="1" i="1" smtClean="0">
                          <a:solidFill>
                            <a:srgbClr val="223939"/>
                          </a:solidFill>
                          <a:latin typeface="Cambria Math" panose="02040503050406030204" pitchFamily="18" charset="0"/>
                          <a:ea typeface="Borsok"/>
                          <a:cs typeface="Borsok"/>
                          <a:sym typeface="Borsok"/>
                        </a:rPr>
                        <m:t>𝟎</m:t>
                      </m:r>
                    </m:oMath>
                  </m:oMathPara>
                </a14:m>
                <a:endParaRPr lang="en-US" sz="12000" b="1" dirty="0">
                  <a:solidFill>
                    <a:srgbClr val="223939"/>
                  </a:solidFill>
                  <a:latin typeface="Borsok"/>
                  <a:ea typeface="Borsok"/>
                  <a:cs typeface="Borsok"/>
                  <a:sym typeface="Borsok"/>
                </a:endParaRPr>
              </a:p>
            </p:txBody>
          </p:sp>
        </mc:Choice>
        <mc:Fallback xmlns="">
          <p:sp>
            <p:nvSpPr>
              <p:cNvPr id="18" name="TextBox 12">
                <a:extLst>
                  <a:ext uri="{FF2B5EF4-FFF2-40B4-BE49-F238E27FC236}">
                    <a16:creationId xmlns:a16="http://schemas.microsoft.com/office/drawing/2014/main" id="{D13FC4F5-8513-937E-A65D-D4449BC0C59B}"/>
                  </a:ext>
                </a:extLst>
              </p:cNvPr>
              <p:cNvSpPr txBox="1">
                <a:spLocks noRot="1" noChangeAspect="1" noMove="1" noResize="1" noEditPoints="1" noAdjustHandles="1" noChangeArrowheads="1" noChangeShapeType="1" noTextEdit="1"/>
              </p:cNvSpPr>
              <p:nvPr/>
            </p:nvSpPr>
            <p:spPr>
              <a:xfrm>
                <a:off x="11895130" y="6183737"/>
                <a:ext cx="3735654" cy="1888402"/>
              </a:xfrm>
              <a:prstGeom prst="rect">
                <a:avLst/>
              </a:prstGeom>
              <a:blipFill>
                <a:blip r:embed="rId13"/>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823499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5">
                                            <p:txEl>
                                              <p:pRg st="0" end="0"/>
                                            </p:txEl>
                                          </p:spTgt>
                                        </p:tgtEl>
                                        <p:attrNameLst>
                                          <p:attrName>style.visibility</p:attrName>
                                        </p:attrNameLst>
                                      </p:cBhvr>
                                      <p:to>
                                        <p:strVal val="visible"/>
                                      </p:to>
                                    </p:set>
                                    <p:animEffect transition="in" filter="fade">
                                      <p:cBhvr>
                                        <p:cTn id="31" dur="1000"/>
                                        <p:tgtEl>
                                          <p:spTgt spid="15">
                                            <p:txEl>
                                              <p:pRg st="0" end="0"/>
                                            </p:txEl>
                                          </p:spTgt>
                                        </p:tgtEl>
                                      </p:cBhvr>
                                    </p:animEffect>
                                    <p:anim calcmode="lin" valueType="num">
                                      <p:cBhvr>
                                        <p:cTn id="32"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7">
                                            <p:txEl>
                                              <p:pRg st="0" end="0"/>
                                            </p:txEl>
                                          </p:spTgt>
                                        </p:tgtEl>
                                        <p:attrNameLst>
                                          <p:attrName>style.visibility</p:attrName>
                                        </p:attrNameLst>
                                      </p:cBhvr>
                                      <p:to>
                                        <p:strVal val="visible"/>
                                      </p:to>
                                    </p:set>
                                    <p:animEffect transition="in" filter="fade">
                                      <p:cBhvr>
                                        <p:cTn id="45" dur="1000"/>
                                        <p:tgtEl>
                                          <p:spTgt spid="17">
                                            <p:txEl>
                                              <p:pRg st="0" end="0"/>
                                            </p:txEl>
                                          </p:spTgt>
                                        </p:tgtEl>
                                      </p:cBhvr>
                                    </p:animEffect>
                                    <p:anim calcmode="lin" valueType="num">
                                      <p:cBhvr>
                                        <p:cTn id="46"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18">
                                            <p:txEl>
                                              <p:pRg st="0" end="0"/>
                                            </p:txEl>
                                          </p:spTgt>
                                        </p:tgtEl>
                                        <p:attrNameLst>
                                          <p:attrName>style.visibility</p:attrName>
                                        </p:attrNameLst>
                                      </p:cBhvr>
                                      <p:to>
                                        <p:strVal val="visible"/>
                                      </p:to>
                                    </p:set>
                                    <p:animEffect transition="in" filter="fade">
                                      <p:cBhvr>
                                        <p:cTn id="52" dur="1000"/>
                                        <p:tgtEl>
                                          <p:spTgt spid="18">
                                            <p:txEl>
                                              <p:pRg st="0" end="0"/>
                                            </p:txEl>
                                          </p:spTgt>
                                        </p:tgtEl>
                                      </p:cBhvr>
                                    </p:animEffect>
                                    <p:anim calcmode="lin" valueType="num">
                                      <p:cBhvr>
                                        <p:cTn id="53"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p:bldP spid="13"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95B2D-97F9-C430-35B4-12503CA8C12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8988B20-674A-EBDA-DDE3-4CE6DB5A16B8}"/>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55B4EC4E-8C0A-6E01-5CA7-09D3A5360A48}"/>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45EF18CA-481F-9AAF-F091-674A3C12614D}"/>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8411A9D5-E9FF-20B4-CED5-1706C1A05713}"/>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A461F991-2FEB-D11A-47FE-6CAB4A3CBDBB}"/>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82D36999-A3F3-DF0A-73A8-6DE9587BD8EF}"/>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D751AB00-D224-9532-1568-E8EE7B3B516E}"/>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DEFA507F-3FEA-3A66-51DD-B6F873A2EAB0}"/>
                  </a:ext>
                </a:extLst>
              </p:cNvPr>
              <p:cNvSpPr txBox="1"/>
              <p:nvPr/>
            </p:nvSpPr>
            <p:spPr>
              <a:xfrm>
                <a:off x="2057400" y="3022599"/>
                <a:ext cx="15087600" cy="2360518"/>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sSup>
                        <m:sSupPr>
                          <m:ctrlPr>
                            <a:rPr lang="en-PH" sz="15000" b="1" i="1" smtClean="0">
                              <a:solidFill>
                                <a:srgbClr val="223939"/>
                              </a:solidFill>
                              <a:latin typeface="Cambria Math" panose="02040503050406030204" pitchFamily="18" charset="0"/>
                              <a:ea typeface="Borsok"/>
                              <a:cs typeface="Borsok"/>
                              <a:sym typeface="Borsok"/>
                            </a:rPr>
                          </m:ctrlPr>
                        </m:sSupPr>
                        <m:e>
                          <m:r>
                            <a:rPr lang="en-PH" sz="15000" b="1" i="1" smtClean="0">
                              <a:solidFill>
                                <a:srgbClr val="223939"/>
                              </a:solidFill>
                              <a:latin typeface="Cambria Math" panose="02040503050406030204" pitchFamily="18" charset="0"/>
                              <a:ea typeface="Borsok"/>
                              <a:cs typeface="Borsok"/>
                              <a:sym typeface="Borsok"/>
                            </a:rPr>
                            <m:t>𝒙</m:t>
                          </m:r>
                        </m:e>
                        <m:sup>
                          <m:r>
                            <a:rPr lang="en-PH" sz="15000" b="1" i="1" smtClean="0">
                              <a:solidFill>
                                <a:srgbClr val="223939"/>
                              </a:solidFill>
                              <a:latin typeface="Cambria Math" panose="02040503050406030204" pitchFamily="18" charset="0"/>
                              <a:ea typeface="Borsok"/>
                              <a:cs typeface="Borsok"/>
                              <a:sym typeface="Borsok"/>
                            </a:rPr>
                            <m:t>𝟐</m:t>
                          </m:r>
                        </m:sup>
                      </m:sSup>
                      <m:r>
                        <a:rPr lang="en-PH" sz="15000" b="1" i="1" smtClean="0">
                          <a:solidFill>
                            <a:srgbClr val="223939"/>
                          </a:solidFill>
                          <a:latin typeface="Cambria Math" panose="02040503050406030204" pitchFamily="18" charset="0"/>
                          <a:ea typeface="Borsok"/>
                          <a:cs typeface="Borsok"/>
                          <a:sym typeface="Borsok"/>
                        </a:rPr>
                        <m:t>+</m:t>
                      </m:r>
                      <m:r>
                        <a:rPr lang="en-PH" sz="15000" b="1" i="1" smtClean="0">
                          <a:solidFill>
                            <a:srgbClr val="223939"/>
                          </a:solidFill>
                          <a:latin typeface="Cambria Math" panose="02040503050406030204" pitchFamily="18" charset="0"/>
                          <a:ea typeface="Borsok"/>
                          <a:cs typeface="Borsok"/>
                          <a:sym typeface="Borsok"/>
                        </a:rPr>
                        <m:t>𝟑</m:t>
                      </m:r>
                      <m:r>
                        <a:rPr lang="en-PH" sz="15000" b="1" i="1" smtClean="0">
                          <a:solidFill>
                            <a:srgbClr val="223939"/>
                          </a:solidFill>
                          <a:latin typeface="Cambria Math" panose="02040503050406030204" pitchFamily="18" charset="0"/>
                          <a:ea typeface="Borsok"/>
                          <a:cs typeface="Borsok"/>
                          <a:sym typeface="Borsok"/>
                        </a:rPr>
                        <m:t>𝒙</m:t>
                      </m:r>
                      <m:r>
                        <a:rPr lang="en-PH" sz="15000" b="1" i="1" smtClean="0">
                          <a:solidFill>
                            <a:srgbClr val="223939"/>
                          </a:solidFill>
                          <a:latin typeface="Cambria Math" panose="02040503050406030204" pitchFamily="18" charset="0"/>
                          <a:ea typeface="Borsok"/>
                          <a:cs typeface="Borsok"/>
                          <a:sym typeface="Borsok"/>
                        </a:rPr>
                        <m:t>−</m:t>
                      </m:r>
                      <m:r>
                        <a:rPr lang="en-PH" sz="15000" b="1" i="1" smtClean="0">
                          <a:solidFill>
                            <a:srgbClr val="223939"/>
                          </a:solidFill>
                          <a:latin typeface="Cambria Math" panose="02040503050406030204" pitchFamily="18" charset="0"/>
                          <a:ea typeface="Borsok"/>
                          <a:cs typeface="Borsok"/>
                          <a:sym typeface="Borsok"/>
                        </a:rPr>
                        <m:t>𝟏𝟖</m:t>
                      </m:r>
                      <m:r>
                        <a:rPr lang="en-PH" sz="15000" b="1" i="1" smtClean="0">
                          <a:solidFill>
                            <a:srgbClr val="223939"/>
                          </a:solidFill>
                          <a:latin typeface="Cambria Math" panose="02040503050406030204" pitchFamily="18" charset="0"/>
                          <a:ea typeface="Borsok"/>
                          <a:cs typeface="Borsok"/>
                          <a:sym typeface="Borsok"/>
                        </a:rPr>
                        <m:t>=</m:t>
                      </m:r>
                      <m:r>
                        <a:rPr lang="en-PH" sz="15000" b="1" i="1" smtClean="0">
                          <a:solidFill>
                            <a:srgbClr val="223939"/>
                          </a:solidFill>
                          <a:latin typeface="Cambria Math" panose="02040503050406030204" pitchFamily="18" charset="0"/>
                          <a:ea typeface="Borsok"/>
                          <a:cs typeface="Borsok"/>
                          <a:sym typeface="Borsok"/>
                        </a:rPr>
                        <m:t>𝟎</m:t>
                      </m:r>
                    </m:oMath>
                  </m:oMathPara>
                </a14:m>
                <a:endParaRPr lang="en-US" sz="15000" b="1" dirty="0">
                  <a:solidFill>
                    <a:srgbClr val="223939"/>
                  </a:solidFill>
                  <a:latin typeface="Borsok"/>
                  <a:ea typeface="Borsok"/>
                  <a:cs typeface="Borsok"/>
                  <a:sym typeface="Borsok"/>
                </a:endParaRPr>
              </a:p>
            </p:txBody>
          </p:sp>
        </mc:Choice>
        <mc:Fallback xmlns="">
          <p:sp>
            <p:nvSpPr>
              <p:cNvPr id="12" name="TextBox 12">
                <a:extLst>
                  <a:ext uri="{FF2B5EF4-FFF2-40B4-BE49-F238E27FC236}">
                    <a16:creationId xmlns:a16="http://schemas.microsoft.com/office/drawing/2014/main" id="{DEFA507F-3FEA-3A66-51DD-B6F873A2EAB0}"/>
                  </a:ext>
                </a:extLst>
              </p:cNvPr>
              <p:cNvSpPr txBox="1">
                <a:spLocks noRot="1" noChangeAspect="1" noMove="1" noResize="1" noEditPoints="1" noAdjustHandles="1" noChangeArrowheads="1" noChangeShapeType="1" noTextEdit="1"/>
              </p:cNvSpPr>
              <p:nvPr/>
            </p:nvSpPr>
            <p:spPr>
              <a:xfrm>
                <a:off x="2057400" y="3022599"/>
                <a:ext cx="15087600" cy="2360518"/>
              </a:xfrm>
              <a:prstGeom prst="rect">
                <a:avLst/>
              </a:prstGeom>
              <a:blipFill>
                <a:blip r:embed="rId6"/>
                <a:stretch>
                  <a:fillRect l="-768"/>
                </a:stretch>
              </a:blipFill>
            </p:spPr>
            <p:txBody>
              <a:bodyPr/>
              <a:lstStyle/>
              <a:p>
                <a:r>
                  <a:rPr lang="en-PH">
                    <a:noFill/>
                  </a:rPr>
                  <a:t> </a:t>
                </a:r>
              </a:p>
            </p:txBody>
          </p:sp>
        </mc:Fallback>
      </mc:AlternateContent>
      <p:sp>
        <p:nvSpPr>
          <p:cNvPr id="14" name="Freeform 14">
            <a:extLst>
              <a:ext uri="{FF2B5EF4-FFF2-40B4-BE49-F238E27FC236}">
                <a16:creationId xmlns:a16="http://schemas.microsoft.com/office/drawing/2014/main" id="{C3676D6D-C06E-1944-90EF-773AF25C7B4E}"/>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7"/>
            <a:stretch>
              <a:fillRect/>
            </a:stretch>
          </a:blipFill>
        </p:spPr>
        <p:txBody>
          <a:bodyPr/>
          <a:lstStyle/>
          <a:p>
            <a:endParaRPr lang="en-PH" dirty="0"/>
          </a:p>
        </p:txBody>
      </p:sp>
    </p:spTree>
    <p:extLst>
      <p:ext uri="{BB962C8B-B14F-4D97-AF65-F5344CB8AC3E}">
        <p14:creationId xmlns:p14="http://schemas.microsoft.com/office/powerpoint/2010/main" val="2143981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ADA2A-8A02-94EE-68BC-F4F4B9A7E6B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C8DF3D-3F33-5C31-9731-27CAA69B1EAD}"/>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2216D309-574F-5261-2A92-C53971AED82D}"/>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5960B85F-33DF-E7F8-4F24-888C79B84347}"/>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9E1FB43A-31EA-FBC3-B5BF-9E70CCC382FB}"/>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307A9731-913B-4023-901B-020F84E2823A}"/>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2C2E370D-2805-FA2A-CDB4-489632090C86}"/>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2D193588-D727-A792-28B8-D8980F798FA5}"/>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4B8D898D-004A-A462-1DF2-838165D5A86E}"/>
                  </a:ext>
                </a:extLst>
              </p:cNvPr>
              <p:cNvSpPr txBox="1"/>
              <p:nvPr/>
            </p:nvSpPr>
            <p:spPr>
              <a:xfrm>
                <a:off x="2057400" y="1125632"/>
                <a:ext cx="15087600" cy="2360518"/>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sSup>
                        <m:sSupPr>
                          <m:ctrlPr>
                            <a:rPr lang="en-PH" sz="15000" b="1" i="1" smtClean="0">
                              <a:solidFill>
                                <a:srgbClr val="223939"/>
                              </a:solidFill>
                              <a:latin typeface="Cambria Math" panose="02040503050406030204" pitchFamily="18" charset="0"/>
                              <a:ea typeface="Borsok"/>
                              <a:cs typeface="Borsok"/>
                              <a:sym typeface="Borsok"/>
                            </a:rPr>
                          </m:ctrlPr>
                        </m:sSupPr>
                        <m:e>
                          <m:r>
                            <a:rPr lang="en-PH" sz="15000" b="1" i="1" smtClean="0">
                              <a:solidFill>
                                <a:srgbClr val="223939"/>
                              </a:solidFill>
                              <a:latin typeface="Cambria Math" panose="02040503050406030204" pitchFamily="18" charset="0"/>
                              <a:ea typeface="Borsok"/>
                              <a:cs typeface="Borsok"/>
                              <a:sym typeface="Borsok"/>
                            </a:rPr>
                            <m:t>𝒙</m:t>
                          </m:r>
                        </m:e>
                        <m:sup>
                          <m:r>
                            <a:rPr lang="en-PH" sz="15000" b="1" i="1" smtClean="0">
                              <a:solidFill>
                                <a:srgbClr val="223939"/>
                              </a:solidFill>
                              <a:latin typeface="Cambria Math" panose="02040503050406030204" pitchFamily="18" charset="0"/>
                              <a:ea typeface="Borsok"/>
                              <a:cs typeface="Borsok"/>
                              <a:sym typeface="Borsok"/>
                            </a:rPr>
                            <m:t>𝟐</m:t>
                          </m:r>
                        </m:sup>
                      </m:sSup>
                      <m:r>
                        <a:rPr lang="en-PH" sz="15000" b="1" i="1" smtClean="0">
                          <a:solidFill>
                            <a:srgbClr val="223939"/>
                          </a:solidFill>
                          <a:latin typeface="Cambria Math" panose="02040503050406030204" pitchFamily="18" charset="0"/>
                          <a:ea typeface="Borsok"/>
                          <a:cs typeface="Borsok"/>
                          <a:sym typeface="Borsok"/>
                        </a:rPr>
                        <m:t>+</m:t>
                      </m:r>
                      <m:r>
                        <a:rPr lang="en-PH" sz="15000" b="1" i="1" smtClean="0">
                          <a:solidFill>
                            <a:srgbClr val="223939"/>
                          </a:solidFill>
                          <a:latin typeface="Cambria Math" panose="02040503050406030204" pitchFamily="18" charset="0"/>
                          <a:ea typeface="Borsok"/>
                          <a:cs typeface="Borsok"/>
                          <a:sym typeface="Borsok"/>
                        </a:rPr>
                        <m:t>𝟑</m:t>
                      </m:r>
                      <m:r>
                        <a:rPr lang="en-PH" sz="15000" b="1" i="1" smtClean="0">
                          <a:solidFill>
                            <a:srgbClr val="223939"/>
                          </a:solidFill>
                          <a:latin typeface="Cambria Math" panose="02040503050406030204" pitchFamily="18" charset="0"/>
                          <a:ea typeface="Borsok"/>
                          <a:cs typeface="Borsok"/>
                          <a:sym typeface="Borsok"/>
                        </a:rPr>
                        <m:t>𝒙</m:t>
                      </m:r>
                      <m:r>
                        <a:rPr lang="en-PH" sz="15000" b="1" i="1" smtClean="0">
                          <a:solidFill>
                            <a:srgbClr val="223939"/>
                          </a:solidFill>
                          <a:latin typeface="Cambria Math" panose="02040503050406030204" pitchFamily="18" charset="0"/>
                          <a:ea typeface="Borsok"/>
                          <a:cs typeface="Borsok"/>
                          <a:sym typeface="Borsok"/>
                        </a:rPr>
                        <m:t>−</m:t>
                      </m:r>
                      <m:r>
                        <a:rPr lang="en-PH" sz="15000" b="1" i="1" smtClean="0">
                          <a:solidFill>
                            <a:srgbClr val="223939"/>
                          </a:solidFill>
                          <a:latin typeface="Cambria Math" panose="02040503050406030204" pitchFamily="18" charset="0"/>
                          <a:ea typeface="Borsok"/>
                          <a:cs typeface="Borsok"/>
                          <a:sym typeface="Borsok"/>
                        </a:rPr>
                        <m:t>𝟏𝟖</m:t>
                      </m:r>
                      <m:r>
                        <a:rPr lang="en-PH" sz="15000" b="1" i="1" smtClean="0">
                          <a:solidFill>
                            <a:srgbClr val="223939"/>
                          </a:solidFill>
                          <a:latin typeface="Cambria Math" panose="02040503050406030204" pitchFamily="18" charset="0"/>
                          <a:ea typeface="Borsok"/>
                          <a:cs typeface="Borsok"/>
                          <a:sym typeface="Borsok"/>
                        </a:rPr>
                        <m:t>=</m:t>
                      </m:r>
                      <m:r>
                        <a:rPr lang="en-PH" sz="15000" b="1" i="1" smtClean="0">
                          <a:solidFill>
                            <a:srgbClr val="223939"/>
                          </a:solidFill>
                          <a:latin typeface="Cambria Math" panose="02040503050406030204" pitchFamily="18" charset="0"/>
                          <a:ea typeface="Borsok"/>
                          <a:cs typeface="Borsok"/>
                          <a:sym typeface="Borsok"/>
                        </a:rPr>
                        <m:t>𝟎</m:t>
                      </m:r>
                    </m:oMath>
                  </m:oMathPara>
                </a14:m>
                <a:endParaRPr lang="en-US" sz="15000" b="1" dirty="0">
                  <a:solidFill>
                    <a:srgbClr val="223939"/>
                  </a:solidFill>
                  <a:latin typeface="Borsok"/>
                  <a:ea typeface="Borsok"/>
                  <a:cs typeface="Borsok"/>
                  <a:sym typeface="Borsok"/>
                </a:endParaRPr>
              </a:p>
            </p:txBody>
          </p:sp>
        </mc:Choice>
        <mc:Fallback xmlns="">
          <p:sp>
            <p:nvSpPr>
              <p:cNvPr id="12" name="TextBox 12">
                <a:extLst>
                  <a:ext uri="{FF2B5EF4-FFF2-40B4-BE49-F238E27FC236}">
                    <a16:creationId xmlns:a16="http://schemas.microsoft.com/office/drawing/2014/main" id="{4B8D898D-004A-A462-1DF2-838165D5A86E}"/>
                  </a:ext>
                </a:extLst>
              </p:cNvPr>
              <p:cNvSpPr txBox="1">
                <a:spLocks noRot="1" noChangeAspect="1" noMove="1" noResize="1" noEditPoints="1" noAdjustHandles="1" noChangeArrowheads="1" noChangeShapeType="1" noTextEdit="1"/>
              </p:cNvSpPr>
              <p:nvPr/>
            </p:nvSpPr>
            <p:spPr>
              <a:xfrm>
                <a:off x="2057400" y="1125632"/>
                <a:ext cx="15087600" cy="2360518"/>
              </a:xfrm>
              <a:prstGeom prst="rect">
                <a:avLst/>
              </a:prstGeom>
              <a:blipFill>
                <a:blip r:embed="rId6"/>
                <a:stretch>
                  <a:fillRect l="-768"/>
                </a:stretch>
              </a:blipFill>
            </p:spPr>
            <p:txBody>
              <a:bodyPr/>
              <a:lstStyle/>
              <a:p>
                <a:r>
                  <a:rPr lang="en-PH">
                    <a:noFill/>
                  </a:rPr>
                  <a:t> </a:t>
                </a:r>
              </a:p>
            </p:txBody>
          </p:sp>
        </mc:Fallback>
      </mc:AlternateContent>
      <p:sp>
        <p:nvSpPr>
          <p:cNvPr id="14" name="Freeform 14">
            <a:extLst>
              <a:ext uri="{FF2B5EF4-FFF2-40B4-BE49-F238E27FC236}">
                <a16:creationId xmlns:a16="http://schemas.microsoft.com/office/drawing/2014/main" id="{E2472833-387B-8440-008C-DAD8AA1C51AC}"/>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7"/>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8" name="TextBox 12">
                <a:extLst>
                  <a:ext uri="{FF2B5EF4-FFF2-40B4-BE49-F238E27FC236}">
                    <a16:creationId xmlns:a16="http://schemas.microsoft.com/office/drawing/2014/main" id="{111D4D29-FED9-2718-F537-3EC73B2B2954}"/>
                  </a:ext>
                </a:extLst>
              </p:cNvPr>
              <p:cNvSpPr txBox="1"/>
              <p:nvPr/>
            </p:nvSpPr>
            <p:spPr>
              <a:xfrm>
                <a:off x="685800" y="3548562"/>
                <a:ext cx="6400800" cy="1538883"/>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0000" b="1" i="1" smtClean="0">
                          <a:solidFill>
                            <a:srgbClr val="223939"/>
                          </a:solidFill>
                          <a:latin typeface="Cambria Math" panose="02040503050406030204" pitchFamily="18" charset="0"/>
                          <a:ea typeface="Borsok"/>
                          <a:cs typeface="Borsok"/>
                          <a:sym typeface="Borsok"/>
                        </a:rPr>
                        <m:t>𝒂</m:t>
                      </m:r>
                      <m:r>
                        <a:rPr lang="en-PH" sz="10000" b="1" i="1" smtClean="0">
                          <a:solidFill>
                            <a:srgbClr val="223939"/>
                          </a:solidFill>
                          <a:latin typeface="Cambria Math" panose="02040503050406030204" pitchFamily="18" charset="0"/>
                          <a:ea typeface="Borsok"/>
                          <a:cs typeface="Borsok"/>
                          <a:sym typeface="Borsok"/>
                        </a:rPr>
                        <m:t>=</m:t>
                      </m:r>
                      <m:r>
                        <a:rPr lang="en-PH" sz="10000" b="1" i="1" smtClean="0">
                          <a:solidFill>
                            <a:srgbClr val="223939"/>
                          </a:solidFill>
                          <a:latin typeface="Cambria Math" panose="02040503050406030204" pitchFamily="18" charset="0"/>
                          <a:ea typeface="Borsok"/>
                          <a:cs typeface="Borsok"/>
                          <a:sym typeface="Borsok"/>
                        </a:rPr>
                        <m:t>𝟏</m:t>
                      </m:r>
                    </m:oMath>
                  </m:oMathPara>
                </a14:m>
                <a:endParaRPr lang="en-US" sz="10000" b="1" dirty="0">
                  <a:solidFill>
                    <a:srgbClr val="223939"/>
                  </a:solidFill>
                  <a:latin typeface="Borsok"/>
                  <a:ea typeface="Borsok"/>
                  <a:cs typeface="Borsok"/>
                  <a:sym typeface="Borsok"/>
                </a:endParaRPr>
              </a:p>
            </p:txBody>
          </p:sp>
        </mc:Choice>
        <mc:Fallback xmlns="">
          <p:sp>
            <p:nvSpPr>
              <p:cNvPr id="8" name="TextBox 12">
                <a:extLst>
                  <a:ext uri="{FF2B5EF4-FFF2-40B4-BE49-F238E27FC236}">
                    <a16:creationId xmlns:a16="http://schemas.microsoft.com/office/drawing/2014/main" id="{111D4D29-FED9-2718-F537-3EC73B2B2954}"/>
                  </a:ext>
                </a:extLst>
              </p:cNvPr>
              <p:cNvSpPr txBox="1">
                <a:spLocks noRot="1" noChangeAspect="1" noMove="1" noResize="1" noEditPoints="1" noAdjustHandles="1" noChangeArrowheads="1" noChangeShapeType="1" noTextEdit="1"/>
              </p:cNvSpPr>
              <p:nvPr/>
            </p:nvSpPr>
            <p:spPr>
              <a:xfrm>
                <a:off x="685800" y="3548562"/>
                <a:ext cx="6400800" cy="1538883"/>
              </a:xfrm>
              <a:prstGeom prst="rect">
                <a:avLst/>
              </a:prstGeom>
              <a:blipFill>
                <a:blip r:embed="rId8"/>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0" name="TextBox 12">
                <a:extLst>
                  <a:ext uri="{FF2B5EF4-FFF2-40B4-BE49-F238E27FC236}">
                    <a16:creationId xmlns:a16="http://schemas.microsoft.com/office/drawing/2014/main" id="{5B9D7AC3-4CA1-8FCC-A1FA-A74C2603FA36}"/>
                  </a:ext>
                </a:extLst>
              </p:cNvPr>
              <p:cNvSpPr txBox="1"/>
              <p:nvPr/>
            </p:nvSpPr>
            <p:spPr>
              <a:xfrm>
                <a:off x="685800" y="4947720"/>
                <a:ext cx="6400800" cy="1538883"/>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0000" b="1" i="1" smtClean="0">
                          <a:solidFill>
                            <a:srgbClr val="223939"/>
                          </a:solidFill>
                          <a:latin typeface="Cambria Math" panose="02040503050406030204" pitchFamily="18" charset="0"/>
                          <a:ea typeface="Borsok"/>
                          <a:cs typeface="Borsok"/>
                          <a:sym typeface="Borsok"/>
                        </a:rPr>
                        <m:t>𝒃</m:t>
                      </m:r>
                      <m:r>
                        <a:rPr lang="en-PH" sz="10000" b="1" i="1" smtClean="0">
                          <a:solidFill>
                            <a:srgbClr val="223939"/>
                          </a:solidFill>
                          <a:latin typeface="Cambria Math" panose="02040503050406030204" pitchFamily="18" charset="0"/>
                          <a:ea typeface="Borsok"/>
                          <a:cs typeface="Borsok"/>
                          <a:sym typeface="Borsok"/>
                        </a:rPr>
                        <m:t>=</m:t>
                      </m:r>
                      <m:r>
                        <a:rPr lang="en-PH" sz="10000" b="1" i="1" smtClean="0">
                          <a:solidFill>
                            <a:srgbClr val="223939"/>
                          </a:solidFill>
                          <a:latin typeface="Cambria Math" panose="02040503050406030204" pitchFamily="18" charset="0"/>
                          <a:ea typeface="Borsok"/>
                          <a:cs typeface="Borsok"/>
                          <a:sym typeface="Borsok"/>
                        </a:rPr>
                        <m:t>𝟑</m:t>
                      </m:r>
                    </m:oMath>
                  </m:oMathPara>
                </a14:m>
                <a:endParaRPr lang="en-US" sz="10000" b="1" dirty="0">
                  <a:solidFill>
                    <a:srgbClr val="223939"/>
                  </a:solidFill>
                  <a:latin typeface="Borsok"/>
                  <a:ea typeface="Borsok"/>
                  <a:cs typeface="Borsok"/>
                  <a:sym typeface="Borsok"/>
                </a:endParaRPr>
              </a:p>
            </p:txBody>
          </p:sp>
        </mc:Choice>
        <mc:Fallback xmlns="">
          <p:sp>
            <p:nvSpPr>
              <p:cNvPr id="10" name="TextBox 12">
                <a:extLst>
                  <a:ext uri="{FF2B5EF4-FFF2-40B4-BE49-F238E27FC236}">
                    <a16:creationId xmlns:a16="http://schemas.microsoft.com/office/drawing/2014/main" id="{5B9D7AC3-4CA1-8FCC-A1FA-A74C2603FA36}"/>
                  </a:ext>
                </a:extLst>
              </p:cNvPr>
              <p:cNvSpPr txBox="1">
                <a:spLocks noRot="1" noChangeAspect="1" noMove="1" noResize="1" noEditPoints="1" noAdjustHandles="1" noChangeArrowheads="1" noChangeShapeType="1" noTextEdit="1"/>
              </p:cNvSpPr>
              <p:nvPr/>
            </p:nvSpPr>
            <p:spPr>
              <a:xfrm>
                <a:off x="685800" y="4947720"/>
                <a:ext cx="6400800" cy="1538883"/>
              </a:xfrm>
              <a:prstGeom prst="rect">
                <a:avLst/>
              </a:prstGeom>
              <a:blipFill>
                <a:blip r:embed="rId9"/>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1" name="TextBox 12">
                <a:extLst>
                  <a:ext uri="{FF2B5EF4-FFF2-40B4-BE49-F238E27FC236}">
                    <a16:creationId xmlns:a16="http://schemas.microsoft.com/office/drawing/2014/main" id="{F0D91F01-DA71-4AC0-3A1C-3DB06D52F52C}"/>
                  </a:ext>
                </a:extLst>
              </p:cNvPr>
              <p:cNvSpPr txBox="1"/>
              <p:nvPr/>
            </p:nvSpPr>
            <p:spPr>
              <a:xfrm>
                <a:off x="1456726" y="6295280"/>
                <a:ext cx="6400800" cy="1538883"/>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a:rPr lang="en-PH" sz="10000" b="1" i="1" smtClean="0">
                          <a:solidFill>
                            <a:srgbClr val="223939"/>
                          </a:solidFill>
                          <a:latin typeface="Cambria Math" panose="02040503050406030204" pitchFamily="18" charset="0"/>
                          <a:ea typeface="Borsok"/>
                          <a:cs typeface="Borsok"/>
                          <a:sym typeface="Borsok"/>
                        </a:rPr>
                        <m:t>𝒄</m:t>
                      </m:r>
                      <m:r>
                        <a:rPr lang="en-PH" sz="10000" b="1" i="1" smtClean="0">
                          <a:solidFill>
                            <a:srgbClr val="223939"/>
                          </a:solidFill>
                          <a:latin typeface="Cambria Math" panose="02040503050406030204" pitchFamily="18" charset="0"/>
                          <a:ea typeface="Borsok"/>
                          <a:cs typeface="Borsok"/>
                          <a:sym typeface="Borsok"/>
                        </a:rPr>
                        <m:t>=−</m:t>
                      </m:r>
                      <m:r>
                        <a:rPr lang="en-PH" sz="10000" b="1" i="1" smtClean="0">
                          <a:solidFill>
                            <a:srgbClr val="223939"/>
                          </a:solidFill>
                          <a:latin typeface="Cambria Math" panose="02040503050406030204" pitchFamily="18" charset="0"/>
                          <a:ea typeface="Borsok"/>
                          <a:cs typeface="Borsok"/>
                          <a:sym typeface="Borsok"/>
                        </a:rPr>
                        <m:t>𝟏𝟖</m:t>
                      </m:r>
                    </m:oMath>
                  </m:oMathPara>
                </a14:m>
                <a:endParaRPr lang="en-US" sz="10000" b="1" dirty="0">
                  <a:solidFill>
                    <a:srgbClr val="223939"/>
                  </a:solidFill>
                  <a:latin typeface="Borsok"/>
                  <a:ea typeface="Borsok"/>
                  <a:cs typeface="Borsok"/>
                  <a:sym typeface="Borsok"/>
                </a:endParaRPr>
              </a:p>
            </p:txBody>
          </p:sp>
        </mc:Choice>
        <mc:Fallback xmlns="">
          <p:sp>
            <p:nvSpPr>
              <p:cNvPr id="11" name="TextBox 12">
                <a:extLst>
                  <a:ext uri="{FF2B5EF4-FFF2-40B4-BE49-F238E27FC236}">
                    <a16:creationId xmlns:a16="http://schemas.microsoft.com/office/drawing/2014/main" id="{F0D91F01-DA71-4AC0-3A1C-3DB06D52F52C}"/>
                  </a:ext>
                </a:extLst>
              </p:cNvPr>
              <p:cNvSpPr txBox="1">
                <a:spLocks noRot="1" noChangeAspect="1" noMove="1" noResize="1" noEditPoints="1" noAdjustHandles="1" noChangeArrowheads="1" noChangeShapeType="1" noTextEdit="1"/>
              </p:cNvSpPr>
              <p:nvPr/>
            </p:nvSpPr>
            <p:spPr>
              <a:xfrm>
                <a:off x="1456726" y="6295280"/>
                <a:ext cx="6400800" cy="1538883"/>
              </a:xfrm>
              <a:prstGeom prst="rect">
                <a:avLst/>
              </a:prstGeom>
              <a:blipFill>
                <a:blip r:embed="rId10"/>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3890557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C2B2B"/>
        </a:solidFill>
        <a:effectLst/>
      </p:bgPr>
    </p:bg>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p:cNvGrpSpPr/>
          <p:nvPr/>
        </p:nvGrpSpPr>
        <p:grpSpPr>
          <a:xfrm>
            <a:off x="794233" y="1797727"/>
            <a:ext cx="8115300" cy="6636615"/>
            <a:chOff x="0" y="0"/>
            <a:chExt cx="2137363" cy="1747915"/>
          </a:xfrm>
        </p:grpSpPr>
        <p:sp>
          <p:nvSpPr>
            <p:cNvPr id="6" name="Freeform 6"/>
            <p:cNvSpPr/>
            <p:nvPr/>
          </p:nvSpPr>
          <p:spPr>
            <a:xfrm>
              <a:off x="0" y="0"/>
              <a:ext cx="2137363" cy="1747915"/>
            </a:xfrm>
            <a:custGeom>
              <a:avLst/>
              <a:gdLst/>
              <a:ahLst/>
              <a:cxnLst/>
              <a:rect l="l" t="t" r="r" b="b"/>
              <a:pathLst>
                <a:path w="2137363" h="1747915">
                  <a:moveTo>
                    <a:pt x="19080" y="0"/>
                  </a:moveTo>
                  <a:lnTo>
                    <a:pt x="2118283" y="0"/>
                  </a:lnTo>
                  <a:cubicBezTo>
                    <a:pt x="2123343" y="0"/>
                    <a:pt x="2128196" y="2010"/>
                    <a:pt x="2131775" y="5588"/>
                  </a:cubicBezTo>
                  <a:cubicBezTo>
                    <a:pt x="2135353" y="9167"/>
                    <a:pt x="2137363" y="14020"/>
                    <a:pt x="2137363" y="19080"/>
                  </a:cubicBezTo>
                  <a:lnTo>
                    <a:pt x="2137363" y="1728835"/>
                  </a:lnTo>
                  <a:cubicBezTo>
                    <a:pt x="2137363" y="1739373"/>
                    <a:pt x="2128821" y="1747915"/>
                    <a:pt x="2118283" y="1747915"/>
                  </a:cubicBezTo>
                  <a:lnTo>
                    <a:pt x="19080" y="1747915"/>
                  </a:lnTo>
                  <a:cubicBezTo>
                    <a:pt x="8542" y="1747915"/>
                    <a:pt x="0" y="1739373"/>
                    <a:pt x="0" y="1728835"/>
                  </a:cubicBezTo>
                  <a:lnTo>
                    <a:pt x="0" y="19080"/>
                  </a:lnTo>
                  <a:cubicBezTo>
                    <a:pt x="0" y="8542"/>
                    <a:pt x="8542" y="0"/>
                    <a:pt x="19080" y="0"/>
                  </a:cubicBezTo>
                  <a:close/>
                </a:path>
              </a:pathLst>
            </a:custGeom>
            <a:solidFill>
              <a:srgbClr val="FDFCFB"/>
            </a:solidFill>
          </p:spPr>
          <p:txBody>
            <a:bodyPr/>
            <a:lstStyle/>
            <a:p>
              <a:endParaRPr lang="en-PH"/>
            </a:p>
          </p:txBody>
        </p:sp>
        <p:sp>
          <p:nvSpPr>
            <p:cNvPr id="7" name="TextBox 7"/>
            <p:cNvSpPr txBox="1"/>
            <p:nvPr/>
          </p:nvSpPr>
          <p:spPr>
            <a:xfrm>
              <a:off x="0" y="-38100"/>
              <a:ext cx="2137363" cy="178601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378467" y="1797727"/>
            <a:ext cx="8115300" cy="6636615"/>
            <a:chOff x="0" y="0"/>
            <a:chExt cx="2137363" cy="1747915"/>
          </a:xfrm>
        </p:grpSpPr>
        <p:sp>
          <p:nvSpPr>
            <p:cNvPr id="9" name="Freeform 9"/>
            <p:cNvSpPr/>
            <p:nvPr/>
          </p:nvSpPr>
          <p:spPr>
            <a:xfrm>
              <a:off x="0" y="0"/>
              <a:ext cx="2137363" cy="1747915"/>
            </a:xfrm>
            <a:custGeom>
              <a:avLst/>
              <a:gdLst/>
              <a:ahLst/>
              <a:cxnLst/>
              <a:rect l="l" t="t" r="r" b="b"/>
              <a:pathLst>
                <a:path w="2137363" h="1747915">
                  <a:moveTo>
                    <a:pt x="19080" y="0"/>
                  </a:moveTo>
                  <a:lnTo>
                    <a:pt x="2118283" y="0"/>
                  </a:lnTo>
                  <a:cubicBezTo>
                    <a:pt x="2123343" y="0"/>
                    <a:pt x="2128196" y="2010"/>
                    <a:pt x="2131775" y="5588"/>
                  </a:cubicBezTo>
                  <a:cubicBezTo>
                    <a:pt x="2135353" y="9167"/>
                    <a:pt x="2137363" y="14020"/>
                    <a:pt x="2137363" y="19080"/>
                  </a:cubicBezTo>
                  <a:lnTo>
                    <a:pt x="2137363" y="1728835"/>
                  </a:lnTo>
                  <a:cubicBezTo>
                    <a:pt x="2137363" y="1739373"/>
                    <a:pt x="2128821" y="1747915"/>
                    <a:pt x="2118283" y="1747915"/>
                  </a:cubicBezTo>
                  <a:lnTo>
                    <a:pt x="19080" y="1747915"/>
                  </a:lnTo>
                  <a:cubicBezTo>
                    <a:pt x="8542" y="1747915"/>
                    <a:pt x="0" y="1739373"/>
                    <a:pt x="0" y="1728835"/>
                  </a:cubicBezTo>
                  <a:lnTo>
                    <a:pt x="0" y="19080"/>
                  </a:lnTo>
                  <a:cubicBezTo>
                    <a:pt x="0" y="8542"/>
                    <a:pt x="8542" y="0"/>
                    <a:pt x="19080" y="0"/>
                  </a:cubicBezTo>
                  <a:close/>
                </a:path>
              </a:pathLst>
            </a:custGeom>
            <a:solidFill>
              <a:srgbClr val="FDFCFB"/>
            </a:solidFill>
          </p:spPr>
          <p:txBody>
            <a:bodyPr/>
            <a:lstStyle/>
            <a:p>
              <a:endParaRPr lang="en-PH"/>
            </a:p>
          </p:txBody>
        </p:sp>
        <p:sp>
          <p:nvSpPr>
            <p:cNvPr id="10" name="TextBox 10"/>
            <p:cNvSpPr txBox="1"/>
            <p:nvPr/>
          </p:nvSpPr>
          <p:spPr>
            <a:xfrm>
              <a:off x="0" y="-38100"/>
              <a:ext cx="2137363" cy="178601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2438399" y="664252"/>
            <a:ext cx="13747877" cy="2866378"/>
            <a:chOff x="0" y="0"/>
            <a:chExt cx="4075175" cy="754931"/>
          </a:xfrm>
        </p:grpSpPr>
        <p:sp>
          <p:nvSpPr>
            <p:cNvPr id="12" name="Freeform 12"/>
            <p:cNvSpPr/>
            <p:nvPr/>
          </p:nvSpPr>
          <p:spPr>
            <a:xfrm>
              <a:off x="0" y="0"/>
              <a:ext cx="4075175" cy="754931"/>
            </a:xfrm>
            <a:custGeom>
              <a:avLst/>
              <a:gdLst/>
              <a:ahLst/>
              <a:cxnLst/>
              <a:rect l="l" t="t" r="r" b="b"/>
              <a:pathLst>
                <a:path w="4075175" h="754931">
                  <a:moveTo>
                    <a:pt x="10007" y="0"/>
                  </a:moveTo>
                  <a:lnTo>
                    <a:pt x="4065168" y="0"/>
                  </a:lnTo>
                  <a:cubicBezTo>
                    <a:pt x="4067822" y="0"/>
                    <a:pt x="4070367" y="1054"/>
                    <a:pt x="4072244" y="2931"/>
                  </a:cubicBezTo>
                  <a:cubicBezTo>
                    <a:pt x="4074121" y="4808"/>
                    <a:pt x="4075175" y="7353"/>
                    <a:pt x="4075175" y="10007"/>
                  </a:cubicBezTo>
                  <a:lnTo>
                    <a:pt x="4075175" y="744924"/>
                  </a:lnTo>
                  <a:cubicBezTo>
                    <a:pt x="4075175" y="750451"/>
                    <a:pt x="4070695" y="754931"/>
                    <a:pt x="4065168" y="754931"/>
                  </a:cubicBezTo>
                  <a:lnTo>
                    <a:pt x="10007" y="754931"/>
                  </a:lnTo>
                  <a:cubicBezTo>
                    <a:pt x="4480" y="754931"/>
                    <a:pt x="0" y="750451"/>
                    <a:pt x="0" y="744924"/>
                  </a:cubicBezTo>
                  <a:lnTo>
                    <a:pt x="0" y="10007"/>
                  </a:lnTo>
                  <a:cubicBezTo>
                    <a:pt x="0" y="4480"/>
                    <a:pt x="4480" y="0"/>
                    <a:pt x="10007" y="0"/>
                  </a:cubicBezTo>
                  <a:close/>
                </a:path>
              </a:pathLst>
            </a:custGeom>
            <a:solidFill>
              <a:srgbClr val="A8BDA0"/>
            </a:solidFill>
          </p:spPr>
          <p:txBody>
            <a:bodyPr/>
            <a:lstStyle/>
            <a:p>
              <a:endParaRPr lang="en-PH"/>
            </a:p>
          </p:txBody>
        </p:sp>
        <p:sp>
          <p:nvSpPr>
            <p:cNvPr id="13" name="TextBox 13"/>
            <p:cNvSpPr txBox="1"/>
            <p:nvPr/>
          </p:nvSpPr>
          <p:spPr>
            <a:xfrm>
              <a:off x="0" y="-38100"/>
              <a:ext cx="4075175" cy="793031"/>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926986" y="664252"/>
            <a:ext cx="14710322" cy="1038746"/>
          </a:xfrm>
          <a:prstGeom prst="rect">
            <a:avLst/>
          </a:prstGeom>
        </p:spPr>
        <p:txBody>
          <a:bodyPr lIns="0" tIns="0" rIns="0" bIns="0" rtlCol="0" anchor="t">
            <a:spAutoFit/>
          </a:bodyPr>
          <a:lstStyle/>
          <a:p>
            <a:pPr algn="ctr">
              <a:lnSpc>
                <a:spcPts val="8399"/>
              </a:lnSpc>
            </a:pPr>
            <a:r>
              <a:rPr lang="en-US" sz="5999" dirty="0">
                <a:solidFill>
                  <a:srgbClr val="1C2B2B"/>
                </a:solidFill>
                <a:latin typeface="Bugaki"/>
                <a:ea typeface="Bugaki"/>
                <a:cs typeface="Bugaki"/>
                <a:sym typeface="Bugaki"/>
              </a:rPr>
              <a:t>Let’s Try This!</a:t>
            </a:r>
          </a:p>
        </p:txBody>
      </p:sp>
      <mc:AlternateContent xmlns:mc="http://schemas.openxmlformats.org/markup-compatibility/2006" xmlns:a14="http://schemas.microsoft.com/office/drawing/2010/main">
        <mc:Choice Requires="a14">
          <p:sp>
            <p:nvSpPr>
              <p:cNvPr id="17" name="TextBox 17"/>
              <p:cNvSpPr txBox="1"/>
              <p:nvPr/>
            </p:nvSpPr>
            <p:spPr>
              <a:xfrm>
                <a:off x="2989791" y="1827874"/>
                <a:ext cx="12141509" cy="1449115"/>
              </a:xfrm>
              <a:prstGeom prst="rect">
                <a:avLst/>
              </a:prstGeom>
            </p:spPr>
            <p:txBody>
              <a:bodyPr wrap="square" lIns="0" tIns="0" rIns="0" bIns="0" rtlCol="0" anchor="t">
                <a:spAutoFit/>
              </a:bodyPr>
              <a:lstStyle/>
              <a:p>
                <a:pPr algn="ctr">
                  <a:lnSpc>
                    <a:spcPts val="5599"/>
                  </a:lnSpc>
                </a:pPr>
                <a:r>
                  <a:rPr lang="en-US" sz="5000" dirty="0">
                    <a:solidFill>
                      <a:srgbClr val="1C2B2B"/>
                    </a:solidFill>
                    <a:latin typeface="Monterchi"/>
                    <a:ea typeface="Monterchi"/>
                    <a:cs typeface="Monterchi"/>
                    <a:sym typeface="Monterchi"/>
                  </a:rPr>
                  <a:t>Write the equations in standard form, then identify the values of </a:t>
                </a:r>
                <a14:m>
                  <m:oMath xmlns:m="http://schemas.openxmlformats.org/officeDocument/2006/math">
                    <m:r>
                      <a:rPr lang="en-PH" sz="5000" b="0" i="1" smtClean="0">
                        <a:solidFill>
                          <a:srgbClr val="1C2B2B"/>
                        </a:solidFill>
                        <a:latin typeface="Cambria Math" panose="02040503050406030204" pitchFamily="18" charset="0"/>
                        <a:ea typeface="Monterchi"/>
                        <a:cs typeface="Monterchi"/>
                        <a:sym typeface="Monterchi"/>
                      </a:rPr>
                      <m:t>𝑎</m:t>
                    </m:r>
                    <m:r>
                      <a:rPr lang="en-PH" sz="5000" b="0" i="1" smtClean="0">
                        <a:solidFill>
                          <a:srgbClr val="1C2B2B"/>
                        </a:solidFill>
                        <a:latin typeface="Cambria Math" panose="02040503050406030204" pitchFamily="18" charset="0"/>
                        <a:ea typeface="Monterchi"/>
                        <a:cs typeface="Monterchi"/>
                        <a:sym typeface="Monterchi"/>
                      </a:rPr>
                      <m:t>, </m:t>
                    </m:r>
                    <m:r>
                      <a:rPr lang="en-PH" sz="5000" b="0" i="1" smtClean="0">
                        <a:solidFill>
                          <a:srgbClr val="1C2B2B"/>
                        </a:solidFill>
                        <a:latin typeface="Cambria Math" panose="02040503050406030204" pitchFamily="18" charset="0"/>
                        <a:ea typeface="Monterchi"/>
                        <a:cs typeface="Monterchi"/>
                        <a:sym typeface="Monterchi"/>
                      </a:rPr>
                      <m:t>𝑏</m:t>
                    </m:r>
                    <m:r>
                      <a:rPr lang="en-PH" sz="5000" b="0" i="1" smtClean="0">
                        <a:solidFill>
                          <a:srgbClr val="1C2B2B"/>
                        </a:solidFill>
                        <a:latin typeface="Cambria Math" panose="02040503050406030204" pitchFamily="18" charset="0"/>
                        <a:ea typeface="Monterchi"/>
                        <a:cs typeface="Monterchi"/>
                        <a:sym typeface="Monterchi"/>
                      </a:rPr>
                      <m:t>, </m:t>
                    </m:r>
                  </m:oMath>
                </a14:m>
                <a:r>
                  <a:rPr lang="en-US" sz="5000" dirty="0">
                    <a:solidFill>
                      <a:srgbClr val="1C2B2B"/>
                    </a:solidFill>
                    <a:latin typeface="Monterchi"/>
                    <a:ea typeface="Monterchi"/>
                    <a:cs typeface="Monterchi"/>
                    <a:sym typeface="Monterchi"/>
                  </a:rPr>
                  <a:t>and </a:t>
                </a:r>
                <a14:m>
                  <m:oMath xmlns:m="http://schemas.openxmlformats.org/officeDocument/2006/math">
                    <m:r>
                      <a:rPr lang="en-PH" sz="5000" b="0" i="1" smtClean="0">
                        <a:solidFill>
                          <a:srgbClr val="1C2B2B"/>
                        </a:solidFill>
                        <a:latin typeface="Cambria Math" panose="02040503050406030204" pitchFamily="18" charset="0"/>
                        <a:ea typeface="Monterchi"/>
                        <a:cs typeface="Monterchi"/>
                        <a:sym typeface="Monterchi"/>
                      </a:rPr>
                      <m:t>𝑐</m:t>
                    </m:r>
                  </m:oMath>
                </a14:m>
                <a:r>
                  <a:rPr lang="en-US" sz="5000" dirty="0">
                    <a:solidFill>
                      <a:srgbClr val="1C2B2B"/>
                    </a:solidFill>
                    <a:latin typeface="Monterchi"/>
                    <a:ea typeface="Monterchi"/>
                    <a:cs typeface="Monterchi"/>
                    <a:sym typeface="Monterchi"/>
                  </a:rPr>
                  <a:t>.</a:t>
                </a:r>
              </a:p>
            </p:txBody>
          </p:sp>
        </mc:Choice>
        <mc:Fallback xmlns="">
          <p:sp>
            <p:nvSpPr>
              <p:cNvPr id="17" name="TextBox 17"/>
              <p:cNvSpPr txBox="1">
                <a:spLocks noRot="1" noChangeAspect="1" noMove="1" noResize="1" noEditPoints="1" noAdjustHandles="1" noChangeArrowheads="1" noChangeShapeType="1" noTextEdit="1"/>
              </p:cNvSpPr>
              <p:nvPr/>
            </p:nvSpPr>
            <p:spPr>
              <a:xfrm>
                <a:off x="2989791" y="1827874"/>
                <a:ext cx="12141509" cy="1449115"/>
              </a:xfrm>
              <a:prstGeom prst="rect">
                <a:avLst/>
              </a:prstGeom>
              <a:blipFill>
                <a:blip r:embed="rId4"/>
                <a:stretch>
                  <a:fillRect l="-1155" t="-15966" r="-2460" b="-28571"/>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8" name="TextBox 18"/>
              <p:cNvSpPr txBox="1"/>
              <p:nvPr/>
            </p:nvSpPr>
            <p:spPr>
              <a:xfrm>
                <a:off x="1135047" y="3934586"/>
                <a:ext cx="7433671" cy="4067717"/>
              </a:xfrm>
              <a:prstGeom prst="rect">
                <a:avLst/>
              </a:prstGeom>
            </p:spPr>
            <p:txBody>
              <a:bodyPr lIns="0" tIns="0" rIns="0" bIns="0" rtlCol="0" anchor="t">
                <a:spAutoFit/>
              </a:bodyPr>
              <a:lstStyle/>
              <a:p>
                <a:pPr marL="971545" lvl="1" indent="-485773" algn="l">
                  <a:lnSpc>
                    <a:spcPct val="150000"/>
                  </a:lnSpc>
                  <a:buFont typeface="Arial"/>
                  <a:buChar char="•"/>
                </a:pPr>
                <a14:m>
                  <m:oMath xmlns:m="http://schemas.openxmlformats.org/officeDocument/2006/math">
                    <m:r>
                      <a:rPr lang="en-PH" sz="4499" b="0" i="1" smtClean="0">
                        <a:solidFill>
                          <a:srgbClr val="1C2B2B"/>
                        </a:solidFill>
                        <a:latin typeface="Cambria Math" panose="02040503050406030204" pitchFamily="18" charset="0"/>
                        <a:ea typeface="Monterchi"/>
                        <a:cs typeface="Monterchi"/>
                        <a:sym typeface="Monterchi"/>
                      </a:rPr>
                      <m:t>3</m:t>
                    </m:r>
                    <m:sSup>
                      <m:sSupPr>
                        <m:ctrlPr>
                          <a:rPr lang="en-PH" sz="4499" b="0" i="1" smtClean="0">
                            <a:solidFill>
                              <a:srgbClr val="1C2B2B"/>
                            </a:solidFill>
                            <a:latin typeface="Cambria Math" panose="02040503050406030204" pitchFamily="18" charset="0"/>
                            <a:ea typeface="Monterchi"/>
                            <a:cs typeface="Monterchi"/>
                            <a:sym typeface="Monterchi"/>
                          </a:rPr>
                        </m:ctrlPr>
                      </m:sSupPr>
                      <m:e>
                        <m:r>
                          <a:rPr lang="en-PH" sz="4499" b="0" i="1" smtClean="0">
                            <a:solidFill>
                              <a:srgbClr val="1C2B2B"/>
                            </a:solidFill>
                            <a:latin typeface="Cambria Math" panose="02040503050406030204" pitchFamily="18" charset="0"/>
                            <a:ea typeface="Monterchi"/>
                            <a:cs typeface="Monterchi"/>
                            <a:sym typeface="Monterchi"/>
                          </a:rPr>
                          <m:t>𝑥</m:t>
                        </m:r>
                      </m:e>
                      <m:sup>
                        <m:r>
                          <a:rPr lang="en-PH" sz="4499" b="0" i="1" smtClean="0">
                            <a:solidFill>
                              <a:srgbClr val="1C2B2B"/>
                            </a:solidFill>
                            <a:latin typeface="Cambria Math" panose="02040503050406030204" pitchFamily="18" charset="0"/>
                            <a:ea typeface="Monterchi"/>
                            <a:cs typeface="Monterchi"/>
                            <a:sym typeface="Monterchi"/>
                          </a:rPr>
                          <m:t>2</m:t>
                        </m:r>
                      </m:sup>
                    </m:sSup>
                    <m:r>
                      <a:rPr lang="en-PH" sz="4499" b="0" i="1" smtClean="0">
                        <a:solidFill>
                          <a:srgbClr val="1C2B2B"/>
                        </a:solidFill>
                        <a:latin typeface="Cambria Math" panose="02040503050406030204" pitchFamily="18" charset="0"/>
                        <a:ea typeface="Monterchi"/>
                        <a:cs typeface="Monterchi"/>
                        <a:sym typeface="Monterchi"/>
                      </a:rPr>
                      <m:t>+4</m:t>
                    </m:r>
                    <m:r>
                      <a:rPr lang="en-PH" sz="4499" b="0" i="1" smtClean="0">
                        <a:solidFill>
                          <a:srgbClr val="1C2B2B"/>
                        </a:solidFill>
                        <a:latin typeface="Cambria Math" panose="02040503050406030204" pitchFamily="18" charset="0"/>
                        <a:ea typeface="Monterchi"/>
                        <a:cs typeface="Monterchi"/>
                        <a:sym typeface="Monterchi"/>
                      </a:rPr>
                      <m:t>𝑥</m:t>
                    </m:r>
                    <m:r>
                      <a:rPr lang="en-PH" sz="4499" b="0" i="1" smtClean="0">
                        <a:solidFill>
                          <a:srgbClr val="1C2B2B"/>
                        </a:solidFill>
                        <a:latin typeface="Cambria Math" panose="02040503050406030204" pitchFamily="18" charset="0"/>
                        <a:ea typeface="Monterchi"/>
                        <a:cs typeface="Monterchi"/>
                        <a:sym typeface="Monterchi"/>
                      </a:rPr>
                      <m:t>+4=0</m:t>
                    </m:r>
                  </m:oMath>
                </a14:m>
                <a:endParaRPr lang="en-PH" sz="4499" b="0" dirty="0">
                  <a:solidFill>
                    <a:srgbClr val="1C2B2B"/>
                  </a:solidFill>
                  <a:latin typeface="Monterchi"/>
                  <a:ea typeface="Monterchi"/>
                  <a:cs typeface="Monterchi"/>
                  <a:sym typeface="Monterchi"/>
                </a:endParaRPr>
              </a:p>
              <a:p>
                <a:pPr marL="971545" lvl="1" indent="-485773" algn="l">
                  <a:lnSpc>
                    <a:spcPct val="150000"/>
                  </a:lnSpc>
                  <a:buFont typeface="Arial"/>
                  <a:buChar char="•"/>
                </a:pPr>
                <a14:m>
                  <m:oMath xmlns:m="http://schemas.openxmlformats.org/officeDocument/2006/math">
                    <m:r>
                      <a:rPr lang="en-PH" sz="4499" b="0" i="1" smtClean="0">
                        <a:solidFill>
                          <a:srgbClr val="1C2B2B"/>
                        </a:solidFill>
                        <a:latin typeface="Cambria Math" panose="02040503050406030204" pitchFamily="18" charset="0"/>
                        <a:ea typeface="Monterchi"/>
                        <a:cs typeface="Monterchi"/>
                        <a:sym typeface="Monterchi"/>
                      </a:rPr>
                      <m:t>2</m:t>
                    </m:r>
                    <m:sSup>
                      <m:sSupPr>
                        <m:ctrlPr>
                          <a:rPr lang="en-PH" sz="4499" b="0" i="1" smtClean="0">
                            <a:solidFill>
                              <a:srgbClr val="1C2B2B"/>
                            </a:solidFill>
                            <a:latin typeface="Cambria Math" panose="02040503050406030204" pitchFamily="18" charset="0"/>
                            <a:ea typeface="Monterchi"/>
                            <a:cs typeface="Monterchi"/>
                            <a:sym typeface="Monterchi"/>
                          </a:rPr>
                        </m:ctrlPr>
                      </m:sSupPr>
                      <m:e>
                        <m:r>
                          <a:rPr lang="en-PH" sz="4499" b="0" i="1" smtClean="0">
                            <a:solidFill>
                              <a:srgbClr val="1C2B2B"/>
                            </a:solidFill>
                            <a:latin typeface="Cambria Math" panose="02040503050406030204" pitchFamily="18" charset="0"/>
                            <a:ea typeface="Monterchi"/>
                            <a:cs typeface="Monterchi"/>
                            <a:sym typeface="Monterchi"/>
                          </a:rPr>
                          <m:t>𝑥</m:t>
                        </m:r>
                      </m:e>
                      <m:sup>
                        <m:r>
                          <a:rPr lang="en-PH" sz="4499" b="0" i="1" smtClean="0">
                            <a:solidFill>
                              <a:srgbClr val="1C2B2B"/>
                            </a:solidFill>
                            <a:latin typeface="Cambria Math" panose="02040503050406030204" pitchFamily="18" charset="0"/>
                            <a:ea typeface="Monterchi"/>
                            <a:cs typeface="Monterchi"/>
                            <a:sym typeface="Monterchi"/>
                          </a:rPr>
                          <m:t>2</m:t>
                        </m:r>
                      </m:sup>
                    </m:sSup>
                    <m:r>
                      <a:rPr lang="en-PH" sz="4499" b="0" i="1" smtClean="0">
                        <a:solidFill>
                          <a:srgbClr val="1C2B2B"/>
                        </a:solidFill>
                        <a:latin typeface="Cambria Math" panose="02040503050406030204" pitchFamily="18" charset="0"/>
                        <a:ea typeface="Monterchi"/>
                        <a:cs typeface="Monterchi"/>
                        <a:sym typeface="Monterchi"/>
                      </a:rPr>
                      <m:t>+6</m:t>
                    </m:r>
                    <m:r>
                      <a:rPr lang="en-PH" sz="4499" b="0" i="1" smtClean="0">
                        <a:solidFill>
                          <a:srgbClr val="1C2B2B"/>
                        </a:solidFill>
                        <a:latin typeface="Cambria Math" panose="02040503050406030204" pitchFamily="18" charset="0"/>
                        <a:ea typeface="Monterchi"/>
                        <a:cs typeface="Monterchi"/>
                        <a:sym typeface="Monterchi"/>
                      </a:rPr>
                      <m:t>𝑥</m:t>
                    </m:r>
                    <m:r>
                      <a:rPr lang="en-PH" sz="4499" b="0" i="1" smtClean="0">
                        <a:solidFill>
                          <a:srgbClr val="1C2B2B"/>
                        </a:solidFill>
                        <a:latin typeface="Cambria Math" panose="02040503050406030204" pitchFamily="18" charset="0"/>
                        <a:ea typeface="Monterchi"/>
                        <a:cs typeface="Monterchi"/>
                        <a:sym typeface="Monterchi"/>
                      </a:rPr>
                      <m:t>−3=0</m:t>
                    </m:r>
                  </m:oMath>
                </a14:m>
                <a:endParaRPr lang="en-PH" sz="4499" b="0" dirty="0">
                  <a:solidFill>
                    <a:srgbClr val="1C2B2B"/>
                  </a:solidFill>
                  <a:latin typeface="Monterchi"/>
                  <a:ea typeface="Monterchi"/>
                  <a:cs typeface="Monterchi"/>
                  <a:sym typeface="Monterchi"/>
                </a:endParaRPr>
              </a:p>
              <a:p>
                <a:pPr marL="971545" lvl="1" indent="-485773" algn="l">
                  <a:lnSpc>
                    <a:spcPct val="150000"/>
                  </a:lnSpc>
                  <a:buFont typeface="Arial"/>
                  <a:buChar char="•"/>
                </a:pPr>
                <a14:m>
                  <m:oMath xmlns:m="http://schemas.openxmlformats.org/officeDocument/2006/math">
                    <m:r>
                      <a:rPr lang="en-PH" sz="4499" b="0" i="1" smtClean="0">
                        <a:solidFill>
                          <a:srgbClr val="1C2B2B"/>
                        </a:solidFill>
                        <a:latin typeface="Cambria Math" panose="02040503050406030204" pitchFamily="18" charset="0"/>
                        <a:ea typeface="Monterchi"/>
                        <a:cs typeface="Monterchi"/>
                        <a:sym typeface="Monterchi"/>
                      </a:rPr>
                      <m:t>𝑥</m:t>
                    </m:r>
                    <m:d>
                      <m:dPr>
                        <m:ctrlPr>
                          <a:rPr lang="en-PH" sz="4499" b="0" i="1" smtClean="0">
                            <a:solidFill>
                              <a:srgbClr val="1C2B2B"/>
                            </a:solidFill>
                            <a:latin typeface="Cambria Math" panose="02040503050406030204" pitchFamily="18" charset="0"/>
                            <a:ea typeface="Monterchi"/>
                            <a:cs typeface="Monterchi"/>
                            <a:sym typeface="Monterchi"/>
                          </a:rPr>
                        </m:ctrlPr>
                      </m:dPr>
                      <m:e>
                        <m:r>
                          <a:rPr lang="en-PH" sz="4499" b="0" i="1" smtClean="0">
                            <a:solidFill>
                              <a:srgbClr val="1C2B2B"/>
                            </a:solidFill>
                            <a:latin typeface="Cambria Math" panose="02040503050406030204" pitchFamily="18" charset="0"/>
                            <a:ea typeface="Monterchi"/>
                            <a:cs typeface="Monterchi"/>
                            <a:sym typeface="Monterchi"/>
                          </a:rPr>
                          <m:t>2</m:t>
                        </m:r>
                        <m:r>
                          <a:rPr lang="en-PH" sz="4499" b="0" i="1" smtClean="0">
                            <a:solidFill>
                              <a:srgbClr val="1C2B2B"/>
                            </a:solidFill>
                            <a:latin typeface="Cambria Math" panose="02040503050406030204" pitchFamily="18" charset="0"/>
                            <a:ea typeface="Monterchi"/>
                            <a:cs typeface="Monterchi"/>
                            <a:sym typeface="Monterchi"/>
                          </a:rPr>
                          <m:t>𝑥</m:t>
                        </m:r>
                        <m:r>
                          <a:rPr lang="en-PH" sz="4499" b="0" i="1" smtClean="0">
                            <a:solidFill>
                              <a:srgbClr val="1C2B2B"/>
                            </a:solidFill>
                            <a:latin typeface="Cambria Math" panose="02040503050406030204" pitchFamily="18" charset="0"/>
                            <a:ea typeface="Monterchi"/>
                            <a:cs typeface="Monterchi"/>
                            <a:sym typeface="Monterchi"/>
                          </a:rPr>
                          <m:t>−3</m:t>
                        </m:r>
                      </m:e>
                    </m:d>
                    <m:r>
                      <a:rPr lang="en-PH" sz="4499" b="0" i="1" smtClean="0">
                        <a:solidFill>
                          <a:srgbClr val="1C2B2B"/>
                        </a:solidFill>
                        <a:latin typeface="Cambria Math" panose="02040503050406030204" pitchFamily="18" charset="0"/>
                        <a:ea typeface="Monterchi"/>
                        <a:cs typeface="Monterchi"/>
                        <a:sym typeface="Monterchi"/>
                      </a:rPr>
                      <m:t>=0</m:t>
                    </m:r>
                  </m:oMath>
                </a14:m>
                <a:endParaRPr lang="en-PH" sz="4499" b="0" dirty="0">
                  <a:solidFill>
                    <a:srgbClr val="1C2B2B"/>
                  </a:solidFill>
                  <a:latin typeface="Monterchi"/>
                  <a:ea typeface="Monterchi"/>
                  <a:cs typeface="Monterchi"/>
                  <a:sym typeface="Monterchi"/>
                </a:endParaRPr>
              </a:p>
              <a:p>
                <a:pPr marL="971545" lvl="1" indent="-485773" algn="l">
                  <a:lnSpc>
                    <a:spcPct val="150000"/>
                  </a:lnSpc>
                  <a:buFont typeface="Arial"/>
                  <a:buChar char="•"/>
                </a:pPr>
                <a14:m>
                  <m:oMath xmlns:m="http://schemas.openxmlformats.org/officeDocument/2006/math">
                    <m:d>
                      <m:dPr>
                        <m:ctrlPr>
                          <a:rPr lang="en-PH" sz="4499" b="0" i="1" smtClean="0">
                            <a:solidFill>
                              <a:srgbClr val="1C2B2B"/>
                            </a:solidFill>
                            <a:latin typeface="Cambria Math" panose="02040503050406030204" pitchFamily="18" charset="0"/>
                            <a:ea typeface="Monterchi"/>
                            <a:cs typeface="Monterchi"/>
                            <a:sym typeface="Monterchi"/>
                          </a:rPr>
                        </m:ctrlPr>
                      </m:dPr>
                      <m:e>
                        <m:r>
                          <a:rPr lang="en-PH" sz="4499" b="0" i="1" smtClean="0">
                            <a:solidFill>
                              <a:srgbClr val="1C2B2B"/>
                            </a:solidFill>
                            <a:latin typeface="Cambria Math" panose="02040503050406030204" pitchFamily="18" charset="0"/>
                            <a:ea typeface="Monterchi"/>
                            <a:cs typeface="Monterchi"/>
                            <a:sym typeface="Monterchi"/>
                          </a:rPr>
                          <m:t>𝑥</m:t>
                        </m:r>
                        <m:r>
                          <a:rPr lang="en-PH" sz="4499" b="0" i="1" smtClean="0">
                            <a:solidFill>
                              <a:srgbClr val="1C2B2B"/>
                            </a:solidFill>
                            <a:latin typeface="Cambria Math" panose="02040503050406030204" pitchFamily="18" charset="0"/>
                            <a:ea typeface="Monterchi"/>
                            <a:cs typeface="Monterchi"/>
                            <a:sym typeface="Monterchi"/>
                          </a:rPr>
                          <m:t>+2</m:t>
                        </m:r>
                      </m:e>
                    </m:d>
                    <m:d>
                      <m:dPr>
                        <m:ctrlPr>
                          <a:rPr lang="en-PH" sz="4499" b="0" i="1" smtClean="0">
                            <a:solidFill>
                              <a:srgbClr val="1C2B2B"/>
                            </a:solidFill>
                            <a:latin typeface="Cambria Math" panose="02040503050406030204" pitchFamily="18" charset="0"/>
                            <a:ea typeface="Monterchi"/>
                            <a:cs typeface="Monterchi"/>
                            <a:sym typeface="Monterchi"/>
                          </a:rPr>
                        </m:ctrlPr>
                      </m:dPr>
                      <m:e>
                        <m:r>
                          <a:rPr lang="en-PH" sz="4499" b="0" i="1" smtClean="0">
                            <a:solidFill>
                              <a:srgbClr val="1C2B2B"/>
                            </a:solidFill>
                            <a:latin typeface="Cambria Math" panose="02040503050406030204" pitchFamily="18" charset="0"/>
                            <a:ea typeface="Monterchi"/>
                            <a:cs typeface="Monterchi"/>
                            <a:sym typeface="Monterchi"/>
                          </a:rPr>
                          <m:t>3</m:t>
                        </m:r>
                        <m:r>
                          <a:rPr lang="en-PH" sz="4499" b="0" i="1" smtClean="0">
                            <a:solidFill>
                              <a:srgbClr val="1C2B2B"/>
                            </a:solidFill>
                            <a:latin typeface="Cambria Math" panose="02040503050406030204" pitchFamily="18" charset="0"/>
                            <a:ea typeface="Monterchi"/>
                            <a:cs typeface="Monterchi"/>
                            <a:sym typeface="Monterchi"/>
                          </a:rPr>
                          <m:t>𝑥</m:t>
                        </m:r>
                        <m:r>
                          <a:rPr lang="en-PH" sz="4499" b="0" i="1" smtClean="0">
                            <a:solidFill>
                              <a:srgbClr val="1C2B2B"/>
                            </a:solidFill>
                            <a:latin typeface="Cambria Math" panose="02040503050406030204" pitchFamily="18" charset="0"/>
                            <a:ea typeface="Monterchi"/>
                            <a:cs typeface="Monterchi"/>
                            <a:sym typeface="Monterchi"/>
                          </a:rPr>
                          <m:t>−1</m:t>
                        </m:r>
                      </m:e>
                    </m:d>
                    <m:r>
                      <a:rPr lang="en-PH" sz="4499" b="0" i="1" smtClean="0">
                        <a:solidFill>
                          <a:srgbClr val="1C2B2B"/>
                        </a:solidFill>
                        <a:latin typeface="Cambria Math" panose="02040503050406030204" pitchFamily="18" charset="0"/>
                        <a:ea typeface="Monterchi"/>
                        <a:cs typeface="Monterchi"/>
                        <a:sym typeface="Monterchi"/>
                      </a:rPr>
                      <m:t>=0</m:t>
                    </m:r>
                  </m:oMath>
                </a14:m>
                <a:endParaRPr lang="en-US" sz="4499" dirty="0">
                  <a:solidFill>
                    <a:srgbClr val="1C2B2B"/>
                  </a:solidFill>
                  <a:latin typeface="Monterchi"/>
                  <a:ea typeface="Monterchi"/>
                  <a:cs typeface="Monterchi"/>
                  <a:sym typeface="Monterchi"/>
                </a:endParaRPr>
              </a:p>
            </p:txBody>
          </p:sp>
        </mc:Choice>
        <mc:Fallback xmlns="">
          <p:sp>
            <p:nvSpPr>
              <p:cNvPr id="18" name="TextBox 18"/>
              <p:cNvSpPr txBox="1">
                <a:spLocks noRot="1" noChangeAspect="1" noMove="1" noResize="1" noEditPoints="1" noAdjustHandles="1" noChangeArrowheads="1" noChangeShapeType="1" noTextEdit="1"/>
              </p:cNvSpPr>
              <p:nvPr/>
            </p:nvSpPr>
            <p:spPr>
              <a:xfrm>
                <a:off x="1135047" y="3934586"/>
                <a:ext cx="7433671" cy="4067717"/>
              </a:xfrm>
              <a:prstGeom prst="rect">
                <a:avLst/>
              </a:prstGeom>
              <a:blipFill>
                <a:blip r:embed="rId5"/>
                <a:stretch>
                  <a:fillRect/>
                </a:stretch>
              </a:blipFill>
            </p:spPr>
            <p:txBody>
              <a:bodyPr/>
              <a:lstStyle/>
              <a:p>
                <a:r>
                  <a:rPr lang="en-PH">
                    <a:noFill/>
                  </a:rPr>
                  <a:t> </a:t>
                </a:r>
              </a:p>
            </p:txBody>
          </p:sp>
        </mc:Fallback>
      </mc:AlternateContent>
      <p:sp>
        <p:nvSpPr>
          <p:cNvPr id="19" name="TextBox 19"/>
          <p:cNvSpPr txBox="1"/>
          <p:nvPr/>
        </p:nvSpPr>
        <p:spPr>
          <a:xfrm>
            <a:off x="9142343" y="3530630"/>
            <a:ext cx="7433671" cy="807913"/>
          </a:xfrm>
          <a:prstGeom prst="rect">
            <a:avLst/>
          </a:prstGeom>
        </p:spPr>
        <p:txBody>
          <a:bodyPr lIns="0" tIns="0" rIns="0" bIns="0" rtlCol="0" anchor="t">
            <a:spAutoFit/>
          </a:bodyPr>
          <a:lstStyle/>
          <a:p>
            <a:pPr marL="485772" lvl="1" algn="l">
              <a:lnSpc>
                <a:spcPts val="6299"/>
              </a:lnSpc>
            </a:pPr>
            <a:r>
              <a:rPr lang="en-US" sz="4499" dirty="0">
                <a:solidFill>
                  <a:srgbClr val="1C2B2B"/>
                </a:solidFill>
                <a:latin typeface="Monterchi"/>
                <a:ea typeface="Monterchi"/>
                <a:cs typeface="Monterchi"/>
                <a:sym typeface="Monterchi"/>
              </a:rPr>
              <a:t>Answers: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56907DE2-CBEE-9BAD-D1A2-087C067C6E1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B5AE8F8-4F38-5721-EAAB-1791BF25D74F}"/>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BE1F41CF-AA89-0A33-06D4-7510CA415EEC}"/>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A8E98AF7-EFFF-42E5-9806-E1D5375E3A54}"/>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3883BF1F-B3F2-B999-A2DC-41FC5D47F32A}"/>
              </a:ext>
            </a:extLst>
          </p:cNvPr>
          <p:cNvGrpSpPr/>
          <p:nvPr/>
        </p:nvGrpSpPr>
        <p:grpSpPr>
          <a:xfrm>
            <a:off x="2724931" y="1177261"/>
            <a:ext cx="12838139" cy="7932477"/>
            <a:chOff x="2724931" y="1177261"/>
            <a:chExt cx="12838139" cy="7932477"/>
          </a:xfrm>
        </p:grpSpPr>
        <p:grpSp>
          <p:nvGrpSpPr>
            <p:cNvPr id="5" name="Group 5">
              <a:extLst>
                <a:ext uri="{FF2B5EF4-FFF2-40B4-BE49-F238E27FC236}">
                  <a16:creationId xmlns:a16="http://schemas.microsoft.com/office/drawing/2014/main" id="{2514FF2A-585E-8D76-D4AA-36E88C6690BB}"/>
                </a:ext>
              </a:extLst>
            </p:cNvPr>
            <p:cNvGrpSpPr/>
            <p:nvPr/>
          </p:nvGrpSpPr>
          <p:grpSpPr>
            <a:xfrm>
              <a:off x="2724931" y="1861553"/>
              <a:ext cx="12838139" cy="7248185"/>
              <a:chOff x="0" y="-38100"/>
              <a:chExt cx="3381238" cy="1908987"/>
            </a:xfrm>
          </p:grpSpPr>
          <p:sp>
            <p:nvSpPr>
              <p:cNvPr id="6" name="Freeform 6">
                <a:extLst>
                  <a:ext uri="{FF2B5EF4-FFF2-40B4-BE49-F238E27FC236}">
                    <a16:creationId xmlns:a16="http://schemas.microsoft.com/office/drawing/2014/main" id="{9E555D86-DDA9-4836-7747-0C5E008585B1}"/>
                  </a:ext>
                </a:extLst>
              </p:cNvPr>
              <p:cNvSpPr/>
              <p:nvPr/>
            </p:nvSpPr>
            <p:spPr>
              <a:xfrm>
                <a:off x="0" y="0"/>
                <a:ext cx="3381238" cy="545313"/>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68A64C72-72C3-89DE-41AC-48D65CCE5FBF}"/>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8E608459-61E3-2C73-0F3E-07C74BA59AF6}"/>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809A2D9D-57B7-676D-531E-0BAE7917D210}"/>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8FE299F3-C007-89D9-5B70-F3EE1B74E2A1}"/>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AD3B0328-2B37-534A-048D-64BFA95C5755}"/>
                </a:ext>
              </a:extLst>
            </p:cNvPr>
            <p:cNvSpPr txBox="1"/>
            <p:nvPr/>
          </p:nvSpPr>
          <p:spPr>
            <a:xfrm>
              <a:off x="2768195" y="3041456"/>
              <a:ext cx="12308225" cy="718145"/>
            </a:xfrm>
            <a:prstGeom prst="rect">
              <a:avLst/>
            </a:prstGeom>
          </p:spPr>
          <p:txBody>
            <a:bodyPr wrap="square" lIns="0" tIns="0" rIns="0" bIns="0" rtlCol="0" anchor="t">
              <a:spAutoFit/>
            </a:bodyPr>
            <a:lstStyle/>
            <a:p>
              <a:pPr marL="431799" lvl="1" algn="just">
                <a:lnSpc>
                  <a:spcPts val="5599"/>
                </a:lnSpc>
              </a:pPr>
              <a:r>
                <a:rPr lang="en-PH" sz="3999" dirty="0">
                  <a:solidFill>
                    <a:srgbClr val="1C2B2B"/>
                  </a:solidFill>
                  <a:latin typeface="Monterchi"/>
                  <a:ea typeface="Monterchi"/>
                  <a:cs typeface="Monterchi"/>
                  <a:sym typeface="Monterchi"/>
                </a:rPr>
                <a:t>Check your understanding by completing the table below. </a:t>
              </a:r>
              <a:endParaRPr lang="en-US" sz="3999" dirty="0">
                <a:solidFill>
                  <a:srgbClr val="1C2B2B"/>
                </a:solidFill>
                <a:latin typeface="Monterchi"/>
                <a:ea typeface="Monterchi"/>
                <a:cs typeface="Monterchi"/>
                <a:sym typeface="Monterchi"/>
              </a:endParaRPr>
            </a:p>
          </p:txBody>
        </p:sp>
        <p:sp>
          <p:nvSpPr>
            <p:cNvPr id="19" name="TextBox 19">
              <a:extLst>
                <a:ext uri="{FF2B5EF4-FFF2-40B4-BE49-F238E27FC236}">
                  <a16:creationId xmlns:a16="http://schemas.microsoft.com/office/drawing/2014/main" id="{03ED4D44-FE11-B7F9-DF65-3E249F1623E0}"/>
                </a:ext>
              </a:extLst>
            </p:cNvPr>
            <p:cNvSpPr txBox="1"/>
            <p:nvPr/>
          </p:nvSpPr>
          <p:spPr>
            <a:xfrm>
              <a:off x="4334551" y="1414511"/>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Comprehension Check</a:t>
              </a:r>
            </a:p>
          </p:txBody>
        </p:sp>
      </p:grpSp>
      <p:pic>
        <p:nvPicPr>
          <p:cNvPr id="13" name="Picture 12">
            <a:extLst>
              <a:ext uri="{FF2B5EF4-FFF2-40B4-BE49-F238E27FC236}">
                <a16:creationId xmlns:a16="http://schemas.microsoft.com/office/drawing/2014/main" id="{36B53598-0361-19F3-4C56-CFA9FF777B32}"/>
              </a:ext>
            </a:extLst>
          </p:cNvPr>
          <p:cNvPicPr>
            <a:picLocks noChangeAspect="1"/>
          </p:cNvPicPr>
          <p:nvPr/>
        </p:nvPicPr>
        <p:blipFill>
          <a:blip r:embed="rId3"/>
          <a:stretch>
            <a:fillRect/>
          </a:stretch>
        </p:blipFill>
        <p:spPr>
          <a:xfrm>
            <a:off x="779650" y="3994050"/>
            <a:ext cx="16285313" cy="4170324"/>
          </a:xfrm>
          <a:prstGeom prst="rect">
            <a:avLst/>
          </a:prstGeom>
        </p:spPr>
      </p:pic>
    </p:spTree>
    <p:extLst>
      <p:ext uri="{BB962C8B-B14F-4D97-AF65-F5344CB8AC3E}">
        <p14:creationId xmlns:p14="http://schemas.microsoft.com/office/powerpoint/2010/main" val="832079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553F65ED-992A-2CF9-148F-B6D640C748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B2BFA6-65BE-0562-73D3-FEEDD0B1754B}"/>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D6F5E841-67DB-95E9-C74E-5A15C8D4DF88}"/>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4746BAF1-C009-B2F9-EDDE-C68E42ABDAA7}"/>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C9FC49F3-9227-F7A8-9F04-BC37D65CFD6D}"/>
              </a:ext>
            </a:extLst>
          </p:cNvPr>
          <p:cNvGrpSpPr/>
          <p:nvPr/>
        </p:nvGrpSpPr>
        <p:grpSpPr>
          <a:xfrm>
            <a:off x="2133602" y="1177261"/>
            <a:ext cx="13868398" cy="8077138"/>
            <a:chOff x="2133602" y="1177261"/>
            <a:chExt cx="13868398" cy="8077138"/>
          </a:xfrm>
        </p:grpSpPr>
        <p:grpSp>
          <p:nvGrpSpPr>
            <p:cNvPr id="5" name="Group 5">
              <a:extLst>
                <a:ext uri="{FF2B5EF4-FFF2-40B4-BE49-F238E27FC236}">
                  <a16:creationId xmlns:a16="http://schemas.microsoft.com/office/drawing/2014/main" id="{5BE4C466-268C-0B4D-E706-6BE14BA94BF7}"/>
                </a:ext>
              </a:extLst>
            </p:cNvPr>
            <p:cNvGrpSpPr/>
            <p:nvPr/>
          </p:nvGrpSpPr>
          <p:grpSpPr>
            <a:xfrm>
              <a:off x="2133602" y="1861553"/>
              <a:ext cx="13868398" cy="7392846"/>
              <a:chOff x="-155741" y="-38100"/>
              <a:chExt cx="3652582" cy="1947087"/>
            </a:xfrm>
          </p:grpSpPr>
          <p:sp>
            <p:nvSpPr>
              <p:cNvPr id="6" name="Freeform 6">
                <a:extLst>
                  <a:ext uri="{FF2B5EF4-FFF2-40B4-BE49-F238E27FC236}">
                    <a16:creationId xmlns:a16="http://schemas.microsoft.com/office/drawing/2014/main" id="{330D706B-CC05-7618-BD8A-161E96611906}"/>
                  </a:ext>
                </a:extLst>
              </p:cNvPr>
              <p:cNvSpPr/>
              <p:nvPr/>
            </p:nvSpPr>
            <p:spPr>
              <a:xfrm>
                <a:off x="-155741" y="0"/>
                <a:ext cx="3652582" cy="19089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67091297-E924-B672-72EF-5B304AD9652C}"/>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C5C3C0A-093A-D71D-B225-C16CB9D77590}"/>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373C0480-906B-2F91-521F-13DCCF5E64BB}"/>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E8BD5F17-4C99-11FC-FD70-6A3174052F1D}"/>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498175F6-7D8A-8CEA-E301-AF906551403D}"/>
                    </a:ext>
                  </a:extLst>
                </p:cNvPr>
                <p:cNvSpPr txBox="1"/>
                <p:nvPr/>
              </p:nvSpPr>
              <p:spPr>
                <a:xfrm>
                  <a:off x="2438400" y="3282210"/>
                  <a:ext cx="13030200" cy="3029676"/>
                </a:xfrm>
                <a:prstGeom prst="rect">
                  <a:avLst/>
                </a:prstGeom>
              </p:spPr>
              <p:txBody>
                <a:bodyPr wrap="square" lIns="0" tIns="0" rIns="0" bIns="0" rtlCol="0" anchor="t">
                  <a:spAutoFit/>
                </a:bodyPr>
                <a:lstStyle/>
                <a:p>
                  <a:pPr marL="431799" lvl="1" algn="just">
                    <a:lnSpc>
                      <a:spcPct val="150000"/>
                    </a:lnSpc>
                  </a:pPr>
                  <a:r>
                    <a:rPr lang="en-PH" sz="4500" dirty="0">
                      <a:solidFill>
                        <a:srgbClr val="1C2B2B"/>
                      </a:solidFill>
                      <a:latin typeface="Monterchi"/>
                      <a:ea typeface="Monterchi"/>
                      <a:cs typeface="Monterchi"/>
                      <a:sym typeface="Monterchi"/>
                    </a:rPr>
                    <a:t>With your seatmate, represent the given situation using a quadratic equation. Write the equation in standard form then identify the values of </a:t>
                  </a:r>
                  <a14:m>
                    <m:oMath xmlns:m="http://schemas.openxmlformats.org/officeDocument/2006/math">
                      <m:r>
                        <a:rPr lang="en-PH" sz="4500" b="0" i="1" smtClean="0">
                          <a:solidFill>
                            <a:srgbClr val="1C2B2B"/>
                          </a:solidFill>
                          <a:latin typeface="Cambria Math" panose="02040503050406030204" pitchFamily="18" charset="0"/>
                          <a:ea typeface="Monterchi"/>
                          <a:cs typeface="Monterchi"/>
                          <a:sym typeface="Monterchi"/>
                        </a:rPr>
                        <m:t>𝑎</m:t>
                      </m:r>
                    </m:oMath>
                  </a14:m>
                  <a:r>
                    <a:rPr lang="en-US" sz="4500" dirty="0">
                      <a:solidFill>
                        <a:srgbClr val="1C2B2B"/>
                      </a:solidFill>
                      <a:latin typeface="Monterchi"/>
                      <a:ea typeface="Monterchi"/>
                      <a:cs typeface="Monterchi"/>
                      <a:sym typeface="Monterchi"/>
                    </a:rPr>
                    <a:t>, </a:t>
                  </a:r>
                  <a14:m>
                    <m:oMath xmlns:m="http://schemas.openxmlformats.org/officeDocument/2006/math">
                      <m:r>
                        <a:rPr lang="en-PH" sz="4500" b="0" i="1" smtClean="0">
                          <a:solidFill>
                            <a:srgbClr val="1C2B2B"/>
                          </a:solidFill>
                          <a:latin typeface="Cambria Math" panose="02040503050406030204" pitchFamily="18" charset="0"/>
                          <a:ea typeface="Monterchi"/>
                          <a:cs typeface="Monterchi"/>
                          <a:sym typeface="Monterchi"/>
                        </a:rPr>
                        <m:t>𝑏</m:t>
                      </m:r>
                    </m:oMath>
                  </a14:m>
                  <a:r>
                    <a:rPr lang="en-US" sz="4500" dirty="0">
                      <a:solidFill>
                        <a:srgbClr val="1C2B2B"/>
                      </a:solidFill>
                      <a:latin typeface="Monterchi"/>
                      <a:ea typeface="Monterchi"/>
                      <a:cs typeface="Monterchi"/>
                      <a:sym typeface="Monterchi"/>
                    </a:rPr>
                    <a:t>, and </a:t>
                  </a:r>
                  <a14:m>
                    <m:oMath xmlns:m="http://schemas.openxmlformats.org/officeDocument/2006/math">
                      <m:r>
                        <a:rPr lang="en-PH" sz="4500" b="0" i="1" smtClean="0">
                          <a:solidFill>
                            <a:srgbClr val="1C2B2B"/>
                          </a:solidFill>
                          <a:latin typeface="Cambria Math" panose="02040503050406030204" pitchFamily="18" charset="0"/>
                          <a:ea typeface="Monterchi"/>
                          <a:cs typeface="Monterchi"/>
                          <a:sym typeface="Monterchi"/>
                        </a:rPr>
                        <m:t>𝑐</m:t>
                      </m:r>
                    </m:oMath>
                  </a14:m>
                  <a:r>
                    <a:rPr lang="en-US" sz="4500" dirty="0">
                      <a:solidFill>
                        <a:srgbClr val="1C2B2B"/>
                      </a:solidFill>
                      <a:latin typeface="Monterchi"/>
                      <a:ea typeface="Monterchi"/>
                      <a:cs typeface="Monterchi"/>
                      <a:sym typeface="Monterchi"/>
                    </a:rPr>
                    <a:t>.</a:t>
                  </a:r>
                </a:p>
              </p:txBody>
            </p:sp>
          </mc:Choice>
          <mc:Fallback xmlns="">
            <p:sp>
              <p:nvSpPr>
                <p:cNvPr id="12" name="TextBox 12">
                  <a:extLst>
                    <a:ext uri="{FF2B5EF4-FFF2-40B4-BE49-F238E27FC236}">
                      <a16:creationId xmlns:a16="http://schemas.microsoft.com/office/drawing/2014/main" id="{498175F6-7D8A-8CEA-E301-AF906551403D}"/>
                    </a:ext>
                  </a:extLst>
                </p:cNvPr>
                <p:cNvSpPr txBox="1">
                  <a:spLocks noRot="1" noChangeAspect="1" noMove="1" noResize="1" noEditPoints="1" noAdjustHandles="1" noChangeArrowheads="1" noChangeShapeType="1" noTextEdit="1"/>
                </p:cNvSpPr>
                <p:nvPr/>
              </p:nvSpPr>
              <p:spPr>
                <a:xfrm>
                  <a:off x="2438400" y="3282210"/>
                  <a:ext cx="13030200" cy="3029676"/>
                </a:xfrm>
                <a:prstGeom prst="rect">
                  <a:avLst/>
                </a:prstGeom>
                <a:blipFill>
                  <a:blip r:embed="rId4"/>
                  <a:stretch>
                    <a:fillRect r="-2666" b="-11871"/>
                  </a:stretch>
                </a:blipFill>
              </p:spPr>
              <p:txBody>
                <a:bodyPr/>
                <a:lstStyle/>
                <a:p>
                  <a:r>
                    <a:rPr lang="en-PH">
                      <a:noFill/>
                    </a:rPr>
                    <a:t> </a:t>
                  </a:r>
                </a:p>
              </p:txBody>
            </p:sp>
          </mc:Fallback>
        </mc:AlternateContent>
        <p:sp>
          <p:nvSpPr>
            <p:cNvPr id="19" name="TextBox 19">
              <a:extLst>
                <a:ext uri="{FF2B5EF4-FFF2-40B4-BE49-F238E27FC236}">
                  <a16:creationId xmlns:a16="http://schemas.microsoft.com/office/drawing/2014/main" id="{EF743E79-1584-8205-92BE-415B8DDE5808}"/>
                </a:ext>
              </a:extLst>
            </p:cNvPr>
            <p:cNvSpPr txBox="1"/>
            <p:nvPr/>
          </p:nvSpPr>
          <p:spPr>
            <a:xfrm>
              <a:off x="4334551" y="1414511"/>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Let’s Work Together!</a:t>
              </a:r>
            </a:p>
          </p:txBody>
        </p:sp>
      </p:grpSp>
    </p:spTree>
    <p:extLst>
      <p:ext uri="{BB962C8B-B14F-4D97-AF65-F5344CB8AC3E}">
        <p14:creationId xmlns:p14="http://schemas.microsoft.com/office/powerpoint/2010/main" val="3839828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2F853C55-B978-82C8-B9F1-5A7A4260B23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E08F77-7089-7926-05F7-58BB7BBA1B54}"/>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1C534EDF-A170-97A8-EB96-232399038808}"/>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BC718B42-F8A3-CDA8-E3C1-1C2238992186}"/>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928C812F-36A1-B295-00F3-E57C215B4865}"/>
              </a:ext>
            </a:extLst>
          </p:cNvPr>
          <p:cNvGrpSpPr/>
          <p:nvPr/>
        </p:nvGrpSpPr>
        <p:grpSpPr>
          <a:xfrm>
            <a:off x="1371600" y="1181100"/>
            <a:ext cx="16078200" cy="8787261"/>
            <a:chOff x="1371600" y="1004439"/>
            <a:chExt cx="14191470" cy="8105299"/>
          </a:xfrm>
        </p:grpSpPr>
        <p:grpSp>
          <p:nvGrpSpPr>
            <p:cNvPr id="5" name="Group 5">
              <a:extLst>
                <a:ext uri="{FF2B5EF4-FFF2-40B4-BE49-F238E27FC236}">
                  <a16:creationId xmlns:a16="http://schemas.microsoft.com/office/drawing/2014/main" id="{A972F3FA-12A9-0A42-7B38-630182E390AA}"/>
                </a:ext>
              </a:extLst>
            </p:cNvPr>
            <p:cNvGrpSpPr/>
            <p:nvPr/>
          </p:nvGrpSpPr>
          <p:grpSpPr>
            <a:xfrm>
              <a:off x="1371600" y="1004439"/>
              <a:ext cx="14191470" cy="8105299"/>
              <a:chOff x="-356433" y="-263842"/>
              <a:chExt cx="3737671" cy="2134729"/>
            </a:xfrm>
          </p:grpSpPr>
          <p:sp>
            <p:nvSpPr>
              <p:cNvPr id="6" name="Freeform 6">
                <a:extLst>
                  <a:ext uri="{FF2B5EF4-FFF2-40B4-BE49-F238E27FC236}">
                    <a16:creationId xmlns:a16="http://schemas.microsoft.com/office/drawing/2014/main" id="{AB1E1AAC-1AF6-0F03-B5DB-0783009F1848}"/>
                  </a:ext>
                </a:extLst>
              </p:cNvPr>
              <p:cNvSpPr/>
              <p:nvPr/>
            </p:nvSpPr>
            <p:spPr>
              <a:xfrm>
                <a:off x="-356433" y="-263842"/>
                <a:ext cx="3652582" cy="19089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B2C1B16E-8C3B-B2BF-9D24-F0AC54B65985}"/>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2DEEC20A-2760-DBB6-6CD8-3A6AEA032D35}"/>
                </a:ext>
              </a:extLst>
            </p:cNvPr>
            <p:cNvSpPr txBox="1"/>
            <p:nvPr/>
          </p:nvSpPr>
          <p:spPr>
            <a:xfrm>
              <a:off x="4057932" y="1032600"/>
              <a:ext cx="10227067" cy="1802568"/>
            </a:xfrm>
            <a:prstGeom prst="rect">
              <a:avLst/>
            </a:prstGeom>
          </p:spPr>
          <p:txBody>
            <a:bodyPr lIns="50800" tIns="50800" rIns="50800" bIns="50800" rtlCol="0" anchor="ctr"/>
            <a:lstStyle/>
            <a:p>
              <a:pPr algn="ctr">
                <a:lnSpc>
                  <a:spcPts val="2659"/>
                </a:lnSpc>
              </a:pPr>
              <a:endParaRPr/>
            </a:p>
          </p:txBody>
        </p:sp>
      </p:grpSp>
      <p:sp>
        <p:nvSpPr>
          <p:cNvPr id="11" name="TextBox 12">
            <a:extLst>
              <a:ext uri="{FF2B5EF4-FFF2-40B4-BE49-F238E27FC236}">
                <a16:creationId xmlns:a16="http://schemas.microsoft.com/office/drawing/2014/main" id="{D3A05EB6-ADAF-340F-9E5E-1AE944828E4C}"/>
              </a:ext>
            </a:extLst>
          </p:cNvPr>
          <p:cNvSpPr txBox="1"/>
          <p:nvPr/>
        </p:nvSpPr>
        <p:spPr>
          <a:xfrm>
            <a:off x="1524000" y="1944195"/>
            <a:ext cx="15240000" cy="6232475"/>
          </a:xfrm>
          <a:prstGeom prst="rect">
            <a:avLst/>
          </a:prstGeom>
        </p:spPr>
        <p:txBody>
          <a:bodyPr wrap="square" lIns="0" tIns="0" rIns="0" bIns="0" rtlCol="0" anchor="t">
            <a:spAutoFit/>
          </a:bodyPr>
          <a:lstStyle/>
          <a:p>
            <a:pPr marL="431799" lvl="1" algn="just">
              <a:lnSpc>
                <a:spcPct val="150000"/>
              </a:lnSpc>
            </a:pPr>
            <a:r>
              <a:rPr lang="en-US" sz="4500" dirty="0">
                <a:solidFill>
                  <a:srgbClr val="1C2B2B"/>
                </a:solidFill>
                <a:latin typeface="Monterchi"/>
                <a:ea typeface="Monterchi"/>
                <a:cs typeface="Monterchi"/>
                <a:sym typeface="Monterchi"/>
              </a:rPr>
              <a:t>A local charity organization is planning to build a rectangular shelter area for distributing food and providing temporary accommodation for the poor and homeless. The length of the shelter area is 4 meters more than twice its width. The total area of the shelter must be 150 square meters to adequately serve the community. Write the quadratic equation that would represent the area of the rectangular shelter area?</a:t>
            </a:r>
          </a:p>
        </p:txBody>
      </p:sp>
    </p:spTree>
    <p:extLst>
      <p:ext uri="{BB962C8B-B14F-4D97-AF65-F5344CB8AC3E}">
        <p14:creationId xmlns:p14="http://schemas.microsoft.com/office/powerpoint/2010/main" val="4273693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A7E78"/>
        </a:solidFill>
        <a:effectLst/>
      </p:bgPr>
    </p:bg>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p:cNvGrpSpPr/>
          <p:nvPr/>
        </p:nvGrpSpPr>
        <p:grpSpPr>
          <a:xfrm>
            <a:off x="1270208" y="2079876"/>
            <a:ext cx="15747584" cy="7178424"/>
            <a:chOff x="0" y="0"/>
            <a:chExt cx="4147512" cy="1890614"/>
          </a:xfrm>
        </p:grpSpPr>
        <p:sp>
          <p:nvSpPr>
            <p:cNvPr id="6" name="Freeform 6"/>
            <p:cNvSpPr/>
            <p:nvPr/>
          </p:nvSpPr>
          <p:spPr>
            <a:xfrm>
              <a:off x="0" y="0"/>
              <a:ext cx="4147512" cy="1890614"/>
            </a:xfrm>
            <a:custGeom>
              <a:avLst/>
              <a:gdLst/>
              <a:ahLst/>
              <a:cxnLst/>
              <a:rect l="l" t="t" r="r" b="b"/>
              <a:pathLst>
                <a:path w="4147512" h="1890614">
                  <a:moveTo>
                    <a:pt x="25073" y="0"/>
                  </a:moveTo>
                  <a:lnTo>
                    <a:pt x="4122439" y="0"/>
                  </a:lnTo>
                  <a:cubicBezTo>
                    <a:pt x="4136286" y="0"/>
                    <a:pt x="4147512" y="11226"/>
                    <a:pt x="4147512" y="25073"/>
                  </a:cubicBezTo>
                  <a:lnTo>
                    <a:pt x="4147512" y="1865541"/>
                  </a:lnTo>
                  <a:cubicBezTo>
                    <a:pt x="4147512" y="1879388"/>
                    <a:pt x="4136286" y="1890614"/>
                    <a:pt x="4122439" y="1890614"/>
                  </a:cubicBezTo>
                  <a:lnTo>
                    <a:pt x="25073" y="1890614"/>
                  </a:lnTo>
                  <a:cubicBezTo>
                    <a:pt x="11226" y="1890614"/>
                    <a:pt x="0" y="1879388"/>
                    <a:pt x="0" y="1865541"/>
                  </a:cubicBezTo>
                  <a:lnTo>
                    <a:pt x="0" y="25073"/>
                  </a:lnTo>
                  <a:cubicBezTo>
                    <a:pt x="0" y="11226"/>
                    <a:pt x="11226" y="0"/>
                    <a:pt x="25073" y="0"/>
                  </a:cubicBezTo>
                  <a:close/>
                </a:path>
              </a:pathLst>
            </a:custGeom>
            <a:solidFill>
              <a:srgbClr val="FFFFFF"/>
            </a:solidFill>
            <a:ln w="123825" cap="rnd">
              <a:solidFill>
                <a:srgbClr val="1C2B2B"/>
              </a:solidFill>
              <a:prstDash val="lgDash"/>
              <a:round/>
            </a:ln>
          </p:spPr>
          <p:txBody>
            <a:bodyPr/>
            <a:lstStyle/>
            <a:p>
              <a:endParaRPr lang="en-PH"/>
            </a:p>
          </p:txBody>
        </p:sp>
        <p:sp>
          <p:nvSpPr>
            <p:cNvPr id="7" name="TextBox 7"/>
            <p:cNvSpPr txBox="1"/>
            <p:nvPr/>
          </p:nvSpPr>
          <p:spPr>
            <a:xfrm>
              <a:off x="0" y="-38100"/>
              <a:ext cx="4147512" cy="1928714"/>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2029458">
            <a:off x="15231605" y="7265924"/>
            <a:ext cx="4055390" cy="3453841"/>
          </a:xfrm>
          <a:custGeom>
            <a:avLst/>
            <a:gdLst/>
            <a:ahLst/>
            <a:cxnLst/>
            <a:rect l="l" t="t" r="r" b="b"/>
            <a:pathLst>
              <a:path w="4055390" h="3453841">
                <a:moveTo>
                  <a:pt x="0" y="0"/>
                </a:moveTo>
                <a:lnTo>
                  <a:pt x="4055390" y="0"/>
                </a:lnTo>
                <a:lnTo>
                  <a:pt x="4055390" y="3453841"/>
                </a:lnTo>
                <a:lnTo>
                  <a:pt x="0" y="34538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9" name="Freeform 9"/>
          <p:cNvSpPr/>
          <p:nvPr/>
        </p:nvSpPr>
        <p:spPr>
          <a:xfrm rot="8795828">
            <a:off x="-1149908" y="-324704"/>
            <a:ext cx="4016275" cy="3365304"/>
          </a:xfrm>
          <a:custGeom>
            <a:avLst/>
            <a:gdLst/>
            <a:ahLst/>
            <a:cxnLst/>
            <a:rect l="l" t="t" r="r" b="b"/>
            <a:pathLst>
              <a:path w="4016275" h="3365304">
                <a:moveTo>
                  <a:pt x="0" y="0"/>
                </a:moveTo>
                <a:lnTo>
                  <a:pt x="4016274" y="0"/>
                </a:lnTo>
                <a:lnTo>
                  <a:pt x="4016274" y="3365303"/>
                </a:lnTo>
                <a:lnTo>
                  <a:pt x="0" y="336530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10" name="TextBox 10"/>
          <p:cNvSpPr txBox="1"/>
          <p:nvPr/>
        </p:nvSpPr>
        <p:spPr>
          <a:xfrm>
            <a:off x="1735151" y="2850628"/>
            <a:ext cx="14817697" cy="6001643"/>
          </a:xfrm>
          <a:prstGeom prst="rect">
            <a:avLst/>
          </a:prstGeom>
        </p:spPr>
        <p:txBody>
          <a:bodyPr lIns="0" tIns="0" rIns="0" bIns="0" rtlCol="0" anchor="t">
            <a:spAutoFit/>
          </a:bodyPr>
          <a:lstStyle/>
          <a:p>
            <a:pPr marL="431798" lvl="1" algn="l">
              <a:lnSpc>
                <a:spcPct val="150000"/>
              </a:lnSpc>
            </a:pPr>
            <a:r>
              <a:rPr lang="en-US" sz="6500" dirty="0">
                <a:solidFill>
                  <a:srgbClr val="1C2B2B"/>
                </a:solidFill>
                <a:latin typeface="Monterchi"/>
                <a:ea typeface="Monterchi"/>
                <a:cs typeface="Monterchi"/>
                <a:sym typeface="Monterchi"/>
              </a:rPr>
              <a:t>Today’s given scenarios used Mathematics to help the people in need. Why is it important to use your knowledge and skills to help improve the lives of others?</a:t>
            </a:r>
          </a:p>
        </p:txBody>
      </p:sp>
      <p:grpSp>
        <p:nvGrpSpPr>
          <p:cNvPr id="11" name="Group 11"/>
          <p:cNvGrpSpPr/>
          <p:nvPr/>
        </p:nvGrpSpPr>
        <p:grpSpPr>
          <a:xfrm>
            <a:off x="4356023" y="1401982"/>
            <a:ext cx="11139413" cy="1355789"/>
            <a:chOff x="0" y="0"/>
            <a:chExt cx="2933837" cy="357080"/>
          </a:xfrm>
        </p:grpSpPr>
        <p:sp>
          <p:nvSpPr>
            <p:cNvPr id="12" name="Freeform 12"/>
            <p:cNvSpPr/>
            <p:nvPr/>
          </p:nvSpPr>
          <p:spPr>
            <a:xfrm>
              <a:off x="0" y="0"/>
              <a:ext cx="2933837" cy="357080"/>
            </a:xfrm>
            <a:custGeom>
              <a:avLst/>
              <a:gdLst/>
              <a:ahLst/>
              <a:cxnLst/>
              <a:rect l="l" t="t" r="r" b="b"/>
              <a:pathLst>
                <a:path w="2933837" h="357080">
                  <a:moveTo>
                    <a:pt x="13900" y="0"/>
                  </a:moveTo>
                  <a:lnTo>
                    <a:pt x="2919937" y="0"/>
                  </a:lnTo>
                  <a:cubicBezTo>
                    <a:pt x="2927614" y="0"/>
                    <a:pt x="2933837" y="6223"/>
                    <a:pt x="2933837" y="13900"/>
                  </a:cubicBezTo>
                  <a:lnTo>
                    <a:pt x="2933837" y="343180"/>
                  </a:lnTo>
                  <a:cubicBezTo>
                    <a:pt x="2933837" y="346867"/>
                    <a:pt x="2932373" y="350402"/>
                    <a:pt x="2929766" y="353009"/>
                  </a:cubicBezTo>
                  <a:cubicBezTo>
                    <a:pt x="2927159" y="355616"/>
                    <a:pt x="2923624" y="357080"/>
                    <a:pt x="2919937" y="357080"/>
                  </a:cubicBezTo>
                  <a:lnTo>
                    <a:pt x="13900" y="357080"/>
                  </a:lnTo>
                  <a:cubicBezTo>
                    <a:pt x="10214" y="357080"/>
                    <a:pt x="6678" y="355616"/>
                    <a:pt x="4071" y="353009"/>
                  </a:cubicBezTo>
                  <a:cubicBezTo>
                    <a:pt x="1464" y="350402"/>
                    <a:pt x="0" y="346867"/>
                    <a:pt x="0" y="343180"/>
                  </a:cubicBezTo>
                  <a:lnTo>
                    <a:pt x="0" y="13900"/>
                  </a:lnTo>
                  <a:cubicBezTo>
                    <a:pt x="0" y="6223"/>
                    <a:pt x="6223" y="0"/>
                    <a:pt x="13900" y="0"/>
                  </a:cubicBezTo>
                  <a:close/>
                </a:path>
              </a:pathLst>
            </a:custGeom>
            <a:solidFill>
              <a:srgbClr val="223939"/>
            </a:solidFill>
          </p:spPr>
          <p:txBody>
            <a:bodyPr/>
            <a:lstStyle/>
            <a:p>
              <a:endParaRPr lang="en-PH"/>
            </a:p>
          </p:txBody>
        </p:sp>
        <p:sp>
          <p:nvSpPr>
            <p:cNvPr id="13" name="TextBox 13"/>
            <p:cNvSpPr txBox="1"/>
            <p:nvPr/>
          </p:nvSpPr>
          <p:spPr>
            <a:xfrm>
              <a:off x="0" y="-38100"/>
              <a:ext cx="2933837" cy="39518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4727412" y="1822438"/>
            <a:ext cx="10396634" cy="990656"/>
          </a:xfrm>
          <a:prstGeom prst="rect">
            <a:avLst/>
          </a:prstGeom>
        </p:spPr>
        <p:txBody>
          <a:bodyPr lIns="0" tIns="0" rIns="0" bIns="0" rtlCol="0" anchor="t">
            <a:spAutoFit/>
          </a:bodyPr>
          <a:lstStyle/>
          <a:p>
            <a:pPr algn="ctr">
              <a:lnSpc>
                <a:spcPts val="6300"/>
              </a:lnSpc>
            </a:pPr>
            <a:r>
              <a:rPr lang="en-US" sz="10000" dirty="0">
                <a:solidFill>
                  <a:srgbClr val="E1E1E1"/>
                </a:solidFill>
                <a:latin typeface="Bugaki"/>
                <a:ea typeface="Bugaki"/>
                <a:cs typeface="Bugaki"/>
                <a:sym typeface="Bugaki"/>
              </a:rPr>
              <a:t>Compassion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06051ca-0ac7-4425-87d7-57354384b50f" xsi:nil="true"/>
    <lcf76f155ced4ddcb4097134ff3c332f xmlns="9af8d393-aa17-400d-a7a8-b22c6a5247f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24AE54D3B7ABF4E94265188B1A3732A" ma:contentTypeVersion="10" ma:contentTypeDescription="Create a new document." ma:contentTypeScope="" ma:versionID="d59c04619bafb1e42b43ede57214fcd9">
  <xsd:schema xmlns:xsd="http://www.w3.org/2001/XMLSchema" xmlns:xs="http://www.w3.org/2001/XMLSchema" xmlns:p="http://schemas.microsoft.com/office/2006/metadata/properties" xmlns:ns2="9af8d393-aa17-400d-a7a8-b22c6a5247f0" xmlns:ns3="f06051ca-0ac7-4425-87d7-57354384b50f" targetNamespace="http://schemas.microsoft.com/office/2006/metadata/properties" ma:root="true" ma:fieldsID="972f344bc57fd1c457fb3445845fee4d" ns2:_="" ns3:_="">
    <xsd:import namespace="9af8d393-aa17-400d-a7a8-b22c6a5247f0"/>
    <xsd:import namespace="f06051ca-0ac7-4425-87d7-57354384b5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f8d393-aa17-400d-a7a8-b22c6a5247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a769e0-a300-417a-b7fa-e0277e530aa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6051ca-0ac7-4425-87d7-57354384b50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d8e6903-f70f-4293-bd91-5adc119538b8}" ma:internalName="TaxCatchAll" ma:showField="CatchAllData" ma:web="f06051ca-0ac7-4425-87d7-57354384b5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564F0A-1614-443D-8BA8-AA895BADA5AB}">
  <ds:schemaRefs>
    <ds:schemaRef ds:uri="http://schemas.microsoft.com/office/2006/metadata/properties"/>
    <ds:schemaRef ds:uri="http://schemas.microsoft.com/office/infopath/2007/PartnerControls"/>
    <ds:schemaRef ds:uri="f06051ca-0ac7-4425-87d7-57354384b50f"/>
    <ds:schemaRef ds:uri="9af8d393-aa17-400d-a7a8-b22c6a5247f0"/>
  </ds:schemaRefs>
</ds:datastoreItem>
</file>

<file path=customXml/itemProps2.xml><?xml version="1.0" encoding="utf-8"?>
<ds:datastoreItem xmlns:ds="http://schemas.openxmlformats.org/officeDocument/2006/customXml" ds:itemID="{58FDC018-35E5-4E3E-8716-D0E0101D7D61}">
  <ds:schemaRefs>
    <ds:schemaRef ds:uri="http://schemas.microsoft.com/sharepoint/v3/contenttype/forms"/>
  </ds:schemaRefs>
</ds:datastoreItem>
</file>

<file path=customXml/itemProps3.xml><?xml version="1.0" encoding="utf-8"?>
<ds:datastoreItem xmlns:ds="http://schemas.openxmlformats.org/officeDocument/2006/customXml" ds:itemID="{FD30F774-F729-44E9-B1DE-1518AD0196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f8d393-aa17-400d-a7a8-b22c6a5247f0"/>
    <ds:schemaRef ds:uri="f06051ca-0ac7-4425-87d7-57354384b5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58</TotalTime>
  <Words>745</Words>
  <Application>Microsoft Office PowerPoint</Application>
  <PresentationFormat>Custom</PresentationFormat>
  <Paragraphs>61</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Sets Theory Presentation</dc:title>
  <dc:creator>Joshua</dc:creator>
  <cp:lastModifiedBy>Joshua Fajardo</cp:lastModifiedBy>
  <cp:revision>3</cp:revision>
  <dcterms:created xsi:type="dcterms:W3CDTF">2006-08-16T00:00:00Z</dcterms:created>
  <dcterms:modified xsi:type="dcterms:W3CDTF">2026-07-28T11:30:27Z</dcterms:modified>
  <dc:identifier>DAHN2bCAxp0</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0x010100224AE54D3B7ABF4E94265188B1A3732A</vt:lpwstr>
  </property>
  <property fmtid="{D5CDD505-2E9C-101B-9397-08002B2CF9AE}" pid="3" name="MediaServiceImageTags">
    <vt:lpwstr/>
  </property>
</Properties>
</file>